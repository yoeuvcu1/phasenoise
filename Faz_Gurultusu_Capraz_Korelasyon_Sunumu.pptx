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rts/chart1.xml" ContentType="application/vnd.openxmlformats-officedocument.drawingml.chart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93" r:id="rId14"/>
    <p:sldId id="294" r:id="rId15"/>
    <p:sldId id="295" r:id="rId16"/>
    <p:sldId id="296" r:id="rId17"/>
    <p:sldId id="297" r:id="rId18"/>
    <p:sldId id="298" r:id="rId19"/>
    <p:sldId id="267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90" r:id="rId38"/>
    <p:sldId id="289" r:id="rId39"/>
    <p:sldId id="291" r:id="rId40"/>
    <p:sldId id="292" r:id="rId4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200" autoAdjust="0"/>
  </p:normalViewPr>
  <p:slideViewPr>
    <p:cSldViewPr snapToGrid="0">
      <p:cViewPr>
        <p:scale>
          <a:sx n="100" d="100"/>
          <a:sy n="100" d="100"/>
        </p:scale>
        <p:origin x="95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Tam bant MAE</c:v>
          </c:tx>
          <c:spPr>
            <a:ln w="38100">
              <a:solidFill>
                <a:srgbClr val="1769D2"/>
              </a:solidFill>
              <a:prstDash val="solid"/>
            </a:ln>
          </c:spPr>
          <c:marker>
            <c:symbol val="circle"/>
            <c:size val="8"/>
            <c:spPr>
              <a:solidFill>
                <a:srgbClr val="1769D2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4213D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1</c:v>
              </c:pt>
              <c:pt idx="1">
                <c:v>50</c:v>
              </c:pt>
              <c:pt idx="2">
                <c:v>250</c:v>
              </c:pt>
              <c:pt idx="3">
                <c:v>500</c:v>
              </c:pt>
              <c:pt idx="4">
                <c:v>1k</c:v>
              </c:pt>
              <c:pt idx="5">
                <c:v>2k</c:v>
              </c:pt>
              <c:pt idx="6">
                <c:v>5k</c:v>
              </c:pt>
              <c:pt idx="7">
                <c:v>10k</c:v>
              </c:pt>
              <c:pt idx="8">
                <c:v>20k</c:v>
              </c:pt>
            </c:strLit>
          </c:cat>
          <c:val>
            <c:numLit>
              <c:formatCode>General</c:formatCode>
              <c:ptCount val="9"/>
              <c:pt idx="0">
                <c:v>16.699000000000002</c:v>
              </c:pt>
              <c:pt idx="1">
                <c:v>6.34</c:v>
              </c:pt>
              <c:pt idx="2">
                <c:v>2.5009999999999999</c:v>
              </c:pt>
              <c:pt idx="3">
                <c:v>3.242</c:v>
              </c:pt>
              <c:pt idx="4">
                <c:v>1.8560000000000001</c:v>
              </c:pt>
              <c:pt idx="5">
                <c:v>2.6230000000000002</c:v>
              </c:pt>
              <c:pt idx="6">
                <c:v>1.2589999999999999</c:v>
              </c:pt>
              <c:pt idx="7">
                <c:v>1.2969999999999999</c:v>
              </c:pt>
              <c:pt idx="8">
                <c:v>0.84499999999999997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75AF-4D84-BEF1-C9F5BB134D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tr-TR" sz="1200">
                    <a:solidFill>
                      <a:srgbClr val="33415C"/>
                    </a:solidFill>
                  </a:rPr>
                  <a:t>İterasyon test noktaları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33415C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33415C"/>
                </a:solidFill>
              </a:defRPr>
            </a:pPr>
            <a:endParaRPr lang="tr-T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8"/>
          <c:min val="0"/>
        </c:scaling>
        <c:delete val="0"/>
        <c:axPos val="l"/>
        <c:majorGridlines>
          <c:spPr>
            <a:ln w="9525">
              <a:solidFill>
                <a:srgbClr val="CFC7BA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r>
                  <a:rPr lang="tr-TR" sz="1200">
                    <a:solidFill>
                      <a:srgbClr val="33415C"/>
                    </a:solidFill>
                  </a:rPr>
                  <a:t>Tam bant MAE (dB)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33415C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33415C"/>
                </a:solidFill>
              </a:defRPr>
            </a:pPr>
            <a:endParaRPr lang="tr-TR"/>
          </a:p>
        </c:txPr>
        <c:crossAx val="48650112"/>
        <c:crosses val="autoZero"/>
        <c:crossBetween val="between"/>
        <c:majorUnit val="3"/>
      </c:valAx>
      <c:spPr>
        <a:solidFill>
          <a:srgbClr val="F5F0E6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5F0E6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24217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8455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27390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0255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68515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64372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" descr="TASNİF DIŞI">
            <a:extLst>
              <a:ext uri="{FF2B5EF4-FFF2-40B4-BE49-F238E27FC236}">
                <a16:creationId xmlns:a16="http://schemas.microsoft.com/office/drawing/2014/main" id="{1857876F-D13D-4A72-A98B-A0E4D150F1E4}"/>
              </a:ext>
            </a:extLst>
          </p:cNvPr>
          <p:cNvSpPr txBox="1"/>
          <p:nvPr userDrawn="1"/>
        </p:nvSpPr>
        <p:spPr>
          <a:xfrm>
            <a:off x="0" y="649986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baseline="0">
                <a:solidFill>
                  <a:srgbClr val="000000"/>
                </a:solidFill>
                <a:latin typeface="trebuchet ms" panose="020B0603020202020204" pitchFamily="34" charset="0"/>
              </a:rPr>
              <a:t>TASNİF DIŞI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680F8A-7365-40DA-B775-D9F10E0706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04E3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5A3FB4-8A16-40A9-8B54-967F09D045BC}"/>
              </a:ext>
            </a:extLst>
          </p:cNvPr>
          <p:cNvSpPr>
            <a:spLocks noGrp="1"/>
          </p:cNvSpPr>
          <p:nvPr/>
        </p:nvSpPr>
        <p:spPr>
          <a:xfrm>
            <a:off x="7286625" y="0"/>
            <a:ext cx="4905375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559054-6289-4385-AFD5-E911385AC04C}"/>
              </a:ext>
            </a:extLst>
          </p:cNvPr>
          <p:cNvSpPr>
            <a:spLocks noGrp="1"/>
          </p:cNvSpPr>
          <p:nvPr/>
        </p:nvSpPr>
        <p:spPr>
          <a:xfrm>
            <a:off x="6858000" y="723900"/>
            <a:ext cx="4762500" cy="47625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501771-1CD2-4767-AB44-ABFFFBEBAFEA}"/>
              </a:ext>
            </a:extLst>
          </p:cNvPr>
          <p:cNvSpPr>
            <a:spLocks noGrp="1"/>
          </p:cNvSpPr>
          <p:nvPr/>
        </p:nvSpPr>
        <p:spPr>
          <a:xfrm>
            <a:off x="6858000" y="4743450"/>
            <a:ext cx="4762500" cy="742950"/>
          </a:xfrm>
          <a:prstGeom prst="rect">
            <a:avLst/>
          </a:prstGeom>
          <a:solidFill>
            <a:srgbClr val="D8F15A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6AED41-2926-4789-960D-92EBD23CA14C}"/>
              </a:ext>
            </a:extLst>
          </p:cNvPr>
          <p:cNvSpPr>
            <a:spLocks noGrp="1"/>
          </p:cNvSpPr>
          <p:nvPr/>
        </p:nvSpPr>
        <p:spPr>
          <a:xfrm>
            <a:off x="685800" y="857251"/>
            <a:ext cx="60007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buNone/>
              <a:defRPr sz="2850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850" b="1" i="0" dirty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ÇAPRAZ KORELASYON</a:t>
            </a:r>
          </a:p>
          <a:p>
            <a:pPr algn="l">
              <a:lnSpc>
                <a:spcPct val="96000"/>
              </a:lnSpc>
              <a:buNone/>
              <a:defRPr sz="2850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850" b="1" i="0" dirty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YÖNTEMİYLE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A35773-4A87-403A-A45E-A8B3B0B45C47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6191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540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540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FAZ GÜRÜLTÜSÜ</a:t>
            </a:r>
          </a:p>
          <a:p>
            <a:pPr algn="l">
              <a:lnSpc>
                <a:spcPct val="92000"/>
              </a:lnSpc>
              <a:buNone/>
              <a:defRPr sz="540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540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ÖLÇÜMÜ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A73DA0-4A36-4FAD-8775-29FA0B98C3E1}"/>
              </a:ext>
            </a:extLst>
          </p:cNvPr>
          <p:cNvSpPr>
            <a:spLocks noGrp="1"/>
          </p:cNvSpPr>
          <p:nvPr/>
        </p:nvSpPr>
        <p:spPr>
          <a:xfrm>
            <a:off x="704850" y="4610100"/>
            <a:ext cx="5715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İki</a:t>
            </a:r>
            <a:r>
              <a:rPr sz="1800" b="0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referans</a:t>
            </a:r>
            <a:r>
              <a:rPr sz="1800" b="0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kanallı</a:t>
            </a:r>
            <a:r>
              <a:rPr sz="1800" b="0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GNU Octave </a:t>
            </a:r>
            <a:r>
              <a:rPr sz="1800" b="0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modeli</a:t>
            </a:r>
            <a:r>
              <a:rPr sz="1800" b="0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1800" b="0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optimizasyonlar</a:t>
            </a:r>
            <a:r>
              <a:rPr sz="1800" b="0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ve</a:t>
            </a:r>
            <a:r>
              <a:rPr sz="1800" b="0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tr-TR" sz="1800" b="0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avantajları</a:t>
            </a:r>
            <a:endParaRPr sz="1800" b="0" i="0" dirty="0">
              <a:solidFill>
                <a:srgbClr val="33415C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0843579-0888-49B0-BFFA-8FA87575DB38}"/>
              </a:ext>
            </a:extLst>
          </p:cNvPr>
          <p:cNvSpPr>
            <a:spLocks noGrp="1"/>
          </p:cNvSpPr>
          <p:nvPr/>
        </p:nvSpPr>
        <p:spPr>
          <a:xfrm>
            <a:off x="704850" y="5491843"/>
            <a:ext cx="5334000" cy="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9C4F8B-B4A1-45D8-A0C7-D5A544EF9FFF}"/>
              </a:ext>
            </a:extLst>
          </p:cNvPr>
          <p:cNvSpPr>
            <a:spLocks noGrp="1"/>
          </p:cNvSpPr>
          <p:nvPr/>
        </p:nvSpPr>
        <p:spPr>
          <a:xfrm>
            <a:off x="704850" y="5714999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Ömer Faruk </a:t>
            </a:r>
            <a:r>
              <a:rPr sz="1500" b="1" i="0" dirty="0" err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Yazıcı</a:t>
            </a:r>
            <a:endParaRPr sz="1500" b="1" i="0" dirty="0">
              <a:solidFill>
                <a:srgbClr val="14213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5F8820-30C6-4710-B52B-C1774411D7D0}"/>
              </a:ext>
            </a:extLst>
          </p:cNvPr>
          <p:cNvSpPr>
            <a:spLocks noGrp="1"/>
          </p:cNvSpPr>
          <p:nvPr/>
        </p:nvSpPr>
        <p:spPr>
          <a:xfrm>
            <a:off x="7182076" y="5018722"/>
            <a:ext cx="4095750" cy="192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r-TR" sz="1050" b="1" i="0" dirty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Çapra</a:t>
            </a:r>
            <a:r>
              <a:rPr lang="tr-TR" sz="1050" b="1" dirty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z Korelasyon Yöntemi</a:t>
            </a:r>
            <a:endParaRPr sz="1050" b="1" i="0" dirty="0">
              <a:solidFill>
                <a:srgbClr val="14213D"/>
              </a:solidFill>
              <a:latin typeface="DejaVu Sans Mono"/>
              <a:ea typeface="DejaVu Sans Mono"/>
              <a:cs typeface="DejaVu Sans Mono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F3624D-D5C9-46D6-AA49-55DB46F0F28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063014" y="1684020"/>
            <a:ext cx="4333875" cy="251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01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99D36C3-21E5-4C4E-B5AA-5069645C2E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B61A-2ABC-4704-B05D-92070C9D88F3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GIRIŞ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FA1639-33DF-48CC-A2E9-913381DCA339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Genel Bakış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960DC0-BC6C-47C4-90EC-851FA76F2E3B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3445104D-EFD5-4931-8F7C-A8261C2545B3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9F379B-0E53-4466-A43E-1627F571A335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067FCC-3432-4B65-AFD5-0C430F65F16A}"/>
              </a:ext>
            </a:extLst>
          </p:cNvPr>
          <p:cNvSpPr>
            <a:spLocks noGrp="1"/>
          </p:cNvSpPr>
          <p:nvPr/>
        </p:nvSpPr>
        <p:spPr>
          <a:xfrm>
            <a:off x="685800" y="1800225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Amaç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4B9995-3BE0-4EE1-89AA-374C907667CC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4953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5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Ölçüm sisteminin kendi gürültü tabanının altında kalan DUT faz gürültüsünü görünür kılmak.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BD8FCA-C88A-432E-8690-C1E645359E43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Yöntem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A87D14-BD4A-4B31-82B2-7A69C1E2512F}"/>
              </a:ext>
            </a:extLst>
          </p:cNvPr>
          <p:cNvSpPr>
            <a:spLocks noGrp="1"/>
          </p:cNvSpPr>
          <p:nvPr/>
        </p:nvSpPr>
        <p:spPr>
          <a:xfrm>
            <a:off x="685800" y="4676775"/>
            <a:ext cx="4953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İki bağımsız referans kanalı + kompleks Cross-PSD ortalaması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2A36EB1-E8C7-4E92-B0AA-7F03382D5654}"/>
              </a:ext>
            </a:extLst>
          </p:cNvPr>
          <p:cNvSpPr>
            <a:spLocks noGrp="1"/>
          </p:cNvSpPr>
          <p:nvPr/>
        </p:nvSpPr>
        <p:spPr>
          <a:xfrm>
            <a:off x="6572250" y="1714500"/>
            <a:ext cx="1428750" cy="1047750"/>
          </a:xfrm>
          <a:prstGeom prst="roundRect">
            <a:avLst>
              <a:gd name="adj" fmla="val 9091"/>
            </a:avLst>
          </a:prstGeom>
          <a:solidFill>
            <a:srgbClr val="FADDD7"/>
          </a:solidFill>
          <a:ln w="14288">
            <a:solidFill>
              <a:srgbClr val="F04E35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DUT</a:t>
            </a:r>
          </a:p>
          <a:p>
            <a:pPr algn="ctr">
              <a:lnSpc>
                <a:spcPct val="100000"/>
              </a:lnSpc>
              <a:buNone/>
              <a:defRPr sz="165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ortak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064198-CAE0-47D3-872B-01531A34E3C2}"/>
              </a:ext>
            </a:extLst>
          </p:cNvPr>
          <p:cNvSpPr>
            <a:spLocks noGrp="1"/>
          </p:cNvSpPr>
          <p:nvPr/>
        </p:nvSpPr>
        <p:spPr>
          <a:xfrm>
            <a:off x="8810625" y="1428750"/>
            <a:ext cx="1714500" cy="876300"/>
          </a:xfrm>
          <a:prstGeom prst="roundRect">
            <a:avLst>
              <a:gd name="adj" fmla="val 10870"/>
            </a:avLst>
          </a:prstGeom>
          <a:solidFill>
            <a:srgbClr val="DDEBFA"/>
          </a:solidFill>
          <a:ln w="14288">
            <a:solidFill>
              <a:srgbClr val="1769D2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Kanal 1</a:t>
            </a:r>
          </a:p>
          <a:p>
            <a:pPr algn="ctr">
              <a:lnSpc>
                <a:spcPct val="100000"/>
              </a:lnSpc>
              <a:buNone/>
              <a:defRPr sz="150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Ref 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05308E-A0BB-4037-A437-A14E52F0B752}"/>
              </a:ext>
            </a:extLst>
          </p:cNvPr>
          <p:cNvSpPr>
            <a:spLocks noGrp="1"/>
          </p:cNvSpPr>
          <p:nvPr/>
        </p:nvSpPr>
        <p:spPr>
          <a:xfrm>
            <a:off x="8810625" y="2762250"/>
            <a:ext cx="1714500" cy="876300"/>
          </a:xfrm>
          <a:prstGeom prst="roundRect">
            <a:avLst>
              <a:gd name="adj" fmla="val 10870"/>
            </a:avLst>
          </a:prstGeom>
          <a:solidFill>
            <a:srgbClr val="BDE8D5"/>
          </a:solidFill>
          <a:ln w="14288">
            <a:solidFill>
              <a:srgbClr val="1E9B72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Kanal 2</a:t>
            </a:r>
          </a:p>
          <a:p>
            <a:pPr algn="ctr">
              <a:lnSpc>
                <a:spcPct val="100000"/>
              </a:lnSpc>
              <a:buNone/>
              <a:defRPr sz="150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Ref 2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E209CF3-55D2-4A74-AB6F-EDC2F928D13D}"/>
              </a:ext>
            </a:extLst>
          </p:cNvPr>
          <p:cNvSpPr>
            <a:spLocks noGrp="1"/>
          </p:cNvSpPr>
          <p:nvPr/>
        </p:nvSpPr>
        <p:spPr>
          <a:xfrm>
            <a:off x="8667750" y="4457700"/>
            <a:ext cx="2000250" cy="1000125"/>
          </a:xfrm>
          <a:prstGeom prst="roundRect">
            <a:avLst>
              <a:gd name="adj" fmla="val 9524"/>
            </a:avLst>
          </a:prstGeom>
          <a:solidFill>
            <a:srgbClr val="14213D"/>
          </a:solidFill>
          <a:ln w="14288">
            <a:solidFill>
              <a:srgbClr val="14213D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F5F0E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0E6"/>
                </a:solidFill>
                <a:latin typeface="DejaVu Sans"/>
                <a:ea typeface="DejaVu Sans"/>
                <a:cs typeface="DejaVu Sans"/>
              </a:rPr>
              <a:t>Cross-PSD</a:t>
            </a:r>
          </a:p>
          <a:p>
            <a:pPr algn="ctr">
              <a:lnSpc>
                <a:spcPct val="100000"/>
              </a:lnSpc>
              <a:buNone/>
              <a:defRPr sz="1650" b="1">
                <a:solidFill>
                  <a:srgbClr val="F5F0E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0E6"/>
                </a:solidFill>
                <a:latin typeface="DejaVu Sans"/>
                <a:ea typeface="DejaVu Sans"/>
                <a:cs typeface="DejaVu Sans"/>
              </a:rPr>
              <a:t>ortalaması</a:t>
            </a:r>
          </a:p>
        </p:txBody>
      </p:sp>
      <p:cxnSp>
        <p:nvCxnSpPr>
          <p:cNvPr id="34" name="Connector: Elbow 33"/>
          <p:cNvCxnSpPr>
            <a:stCxn id="11" idx="3"/>
            <a:endCxn id="12" idx="1"/>
          </p:cNvCxnSpPr>
          <p:nvPr/>
        </p:nvCxnSpPr>
        <p:spPr>
          <a:xfrm flipV="1">
            <a:off x="8001000" y="1866900"/>
            <a:ext cx="809625" cy="371475"/>
          </a:xfrm>
          <a:prstGeom prst="bentConnector3">
            <a:avLst>
              <a:gd name="adj1" fmla="val 50000"/>
            </a:avLst>
          </a:prstGeom>
          <a:ln w="23813">
            <a:solidFill>
              <a:srgbClr val="F04E3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5" name="Connector: Elbow 34"/>
          <p:cNvCxnSpPr>
            <a:stCxn id="11" idx="3"/>
            <a:endCxn id="13" idx="1"/>
          </p:cNvCxnSpPr>
          <p:nvPr/>
        </p:nvCxnSpPr>
        <p:spPr>
          <a:xfrm>
            <a:off x="8001000" y="2238375"/>
            <a:ext cx="809625" cy="962025"/>
          </a:xfrm>
          <a:prstGeom prst="bentConnector3">
            <a:avLst>
              <a:gd name="adj1" fmla="val 50000"/>
            </a:avLst>
          </a:prstGeom>
          <a:ln w="23813">
            <a:solidFill>
              <a:srgbClr val="F04E3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6" name="Connector: Elbow 35"/>
          <p:cNvCxnSpPr>
            <a:cxnSpLocks/>
            <a:endCxn id="14" idx="3"/>
          </p:cNvCxnSpPr>
          <p:nvPr/>
        </p:nvCxnSpPr>
        <p:spPr>
          <a:xfrm rot="16200000" flipH="1">
            <a:off x="8848724" y="3138487"/>
            <a:ext cx="2657476" cy="981075"/>
          </a:xfrm>
          <a:prstGeom prst="bentConnector4">
            <a:avLst>
              <a:gd name="adj1" fmla="val 12190"/>
              <a:gd name="adj2" fmla="val 123301"/>
            </a:avLst>
          </a:prstGeom>
          <a:ln w="23813">
            <a:solidFill>
              <a:srgbClr val="1769D2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7" name="Straight Arrow Connector 36"/>
          <p:cNvCxnSpPr>
            <a:stCxn id="13" idx="2"/>
            <a:endCxn id="14" idx="0"/>
          </p:cNvCxnSpPr>
          <p:nvPr/>
        </p:nvCxnSpPr>
        <p:spPr>
          <a:xfrm>
            <a:off x="9667875" y="3638550"/>
            <a:ext cx="0" cy="819150"/>
          </a:xfrm>
          <a:prstGeom prst="straightConnector1">
            <a:avLst/>
          </a:prstGeom>
          <a:ln w="23813">
            <a:solidFill>
              <a:srgbClr val="1E9B72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333E5-023A-4AD2-A4DF-0E067CEB1CB8}"/>
              </a:ext>
            </a:extLst>
          </p:cNvPr>
          <p:cNvSpPr>
            <a:spLocks noGrp="1"/>
          </p:cNvSpPr>
          <p:nvPr/>
        </p:nvSpPr>
        <p:spPr>
          <a:xfrm>
            <a:off x="7924800" y="560070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ortak bileşen korunur</a:t>
            </a:r>
          </a:p>
        </p:txBody>
      </p:sp>
    </p:spTree>
    <p:extLst>
      <p:ext uri="{BB962C8B-B14F-4D97-AF65-F5344CB8AC3E}">
        <p14:creationId xmlns:p14="http://schemas.microsoft.com/office/powerpoint/2010/main" val="1993823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571BC7-28F2-4E01-9090-5A95DF6686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875E8D-2A77-4292-ACF2-323C96AB5AEA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TEMEL KAVRAMLAR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630F48-4965-4422-8586-F6E45C8404ED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Faz Gürültüsü Nedir?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487B11-9E4D-4E5E-B477-BB363C07830A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D351D21B-0BCD-48FE-B4F0-3C7ABB5A3C7B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B50E5F-A2F9-4185-A8AE-C88BFCE5B4B3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33B4AE-055A-464A-BBA4-A3F49AC15ADE}"/>
              </a:ext>
            </a:extLst>
          </p:cNvPr>
          <p:cNvSpPr>
            <a:spLocks noGrp="1"/>
          </p:cNvSpPr>
          <p:nvPr/>
        </p:nvSpPr>
        <p:spPr>
          <a:xfrm>
            <a:off x="6667500" y="1657350"/>
            <a:ext cx="4762500" cy="390525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56992" y="1876425"/>
            <a:ext cx="4183516" cy="34671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A9897A9-CCA5-4113-96E3-5F5A6F718464}"/>
              </a:ext>
            </a:extLst>
          </p:cNvPr>
          <p:cNvSpPr>
            <a:spLocks noGrp="1"/>
          </p:cNvSpPr>
          <p:nvPr/>
        </p:nvSpPr>
        <p:spPr>
          <a:xfrm>
            <a:off x="685800" y="180022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İdeal osilatör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DBD44B-CBF9-476A-AB5B-B52C40A731AC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8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tek bir spektral çizgi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C5C6E9-FF01-4230-9F40-3022ECABC566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Gerçek osilatör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F5005E-70F8-4D8B-931A-82F95DB1BE6A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5143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270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70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taşıyıcının çevresine yayılan yan bantlar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F1F6511-2B90-4BFB-B503-E718AAC5B45E}"/>
              </a:ext>
            </a:extLst>
          </p:cNvPr>
          <p:cNvSpPr>
            <a:spLocks noGrp="1"/>
          </p:cNvSpPr>
          <p:nvPr/>
        </p:nvSpPr>
        <p:spPr>
          <a:xfrm>
            <a:off x="685800" y="4848225"/>
            <a:ext cx="53340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9D4EB8-07C0-41C0-9467-CD929022B2D9}"/>
              </a:ext>
            </a:extLst>
          </p:cNvPr>
          <p:cNvSpPr>
            <a:spLocks noGrp="1"/>
          </p:cNvSpPr>
          <p:nvPr/>
        </p:nvSpPr>
        <p:spPr>
          <a:xfrm>
            <a:off x="971550" y="51054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2100">
                <a:solidFill>
                  <a:srgbClr val="14213D"/>
                </a:solidFill>
                <a:latin typeface="DejaVu Serif"/>
                <a:ea typeface="DejaVu Serif"/>
                <a:cs typeface="DejaVu Serif"/>
              </a:defRPr>
            </a:pPr>
            <a:r>
              <a:rPr sz="2100" b="1">
                <a:solidFill>
                  <a:srgbClr val="14213D"/>
                </a:solidFill>
                <a:latin typeface="DejaVu Serif"/>
                <a:ea typeface="DejaVu Serif"/>
                <a:cs typeface="DejaVu Serif"/>
              </a:rPr>
              <a:t>x(t) = A cos(2πf₀t + φ(t))</a:t>
            </a:r>
          </a:p>
        </p:txBody>
      </p:sp>
    </p:spTree>
    <p:extLst>
      <p:ext uri="{BB962C8B-B14F-4D97-AF65-F5344CB8AC3E}">
        <p14:creationId xmlns:p14="http://schemas.microsoft.com/office/powerpoint/2010/main" val="1720620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BF97A9C-F879-48CA-B4F3-B11615FF61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26E526-7BE1-4799-ACDB-50FEE37B0C98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TEMEL KAVRAMLAR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DD7B1E-0506-4E2A-9BF9-44BF85797D63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Tek Yan Bant Faz Gürültüsü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2E4622-7937-4803-B1CB-ABA191A670B0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4E19E9F7-D998-4930-A8BA-4F66A52992E7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D59637-5B2D-4D6C-B893-9E7A9052A3B9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86662F-6299-4622-949B-2F75EEA40550}"/>
              </a:ext>
            </a:extLst>
          </p:cNvPr>
          <p:cNvSpPr>
            <a:spLocks noGrp="1"/>
          </p:cNvSpPr>
          <p:nvPr/>
        </p:nvSpPr>
        <p:spPr>
          <a:xfrm>
            <a:off x="5619750" y="1600200"/>
            <a:ext cx="5905500" cy="438150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/>
          <a:srcRect l="4211" b="9892"/>
          <a:stretch/>
        </p:blipFill>
        <p:spPr>
          <a:xfrm>
            <a:off x="5848390" y="2275156"/>
            <a:ext cx="5581610" cy="303158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EC3454B-60BA-4364-AADA-94EE0DE105E7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1714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5400" b="1" i="0">
                <a:solidFill>
                  <a:srgbClr val="1769D2"/>
                </a:solidFill>
                <a:latin typeface="DejaVu Serif"/>
                <a:ea typeface="DejaVu Serif"/>
                <a:cs typeface="DejaVu Serif"/>
              </a:defRPr>
            </a:pPr>
            <a:r>
              <a:rPr sz="5400" b="1" i="0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L(f)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DA9C94-6579-4BFC-B8E3-E4C49E42997C}"/>
              </a:ext>
            </a:extLst>
          </p:cNvPr>
          <p:cNvSpPr>
            <a:spLocks noGrp="1"/>
          </p:cNvSpPr>
          <p:nvPr/>
        </p:nvSpPr>
        <p:spPr>
          <a:xfrm>
            <a:off x="704850" y="2743200"/>
            <a:ext cx="4095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025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Taşıyıcıdan f kadar uzakta, 1 Hz bant genişliğine normalize edilmiş gürültü gücü.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1D08FA-1036-4532-A334-DDC2F50C63A6}"/>
              </a:ext>
            </a:extLst>
          </p:cNvPr>
          <p:cNvSpPr>
            <a:spLocks noGrp="1"/>
          </p:cNvSpPr>
          <p:nvPr/>
        </p:nvSpPr>
        <p:spPr>
          <a:xfrm>
            <a:off x="704850" y="4267200"/>
            <a:ext cx="4095750" cy="876300"/>
          </a:xfrm>
          <a:prstGeom prst="roundRect">
            <a:avLst>
              <a:gd name="adj" fmla="val 13043"/>
            </a:avLst>
          </a:prstGeom>
          <a:solidFill>
            <a:srgbClr val="14213D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1D2030-31FF-40E4-8606-0C55E06A8E22}"/>
              </a:ext>
            </a:extLst>
          </p:cNvPr>
          <p:cNvSpPr>
            <a:spLocks noGrp="1"/>
          </p:cNvSpPr>
          <p:nvPr/>
        </p:nvSpPr>
        <p:spPr>
          <a:xfrm>
            <a:off x="895350" y="4538663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950" b="1" i="0">
                <a:solidFill>
                  <a:srgbClr val="F5F0E6"/>
                </a:solidFill>
                <a:latin typeface="DejaVu Serif"/>
                <a:ea typeface="DejaVu Serif"/>
                <a:cs typeface="DejaVu Serif"/>
              </a:defRPr>
            </a:pPr>
            <a:r>
              <a:rPr sz="1950" b="1" i="0" dirty="0">
                <a:solidFill>
                  <a:srgbClr val="F5F0E6"/>
                </a:solidFill>
                <a:latin typeface="DejaVu Serif"/>
                <a:ea typeface="DejaVu Serif"/>
                <a:cs typeface="DejaVu Serif"/>
              </a:rPr>
              <a:t>L(f) = 10 log₁₀[½ </a:t>
            </a:r>
            <a:r>
              <a:rPr sz="1950" b="1" i="0" dirty="0" err="1">
                <a:solidFill>
                  <a:srgbClr val="F5F0E6"/>
                </a:solidFill>
                <a:latin typeface="DejaVu Serif"/>
                <a:ea typeface="DejaVu Serif"/>
                <a:cs typeface="DejaVu Serif"/>
              </a:rPr>
              <a:t>Sφ</a:t>
            </a:r>
            <a:r>
              <a:rPr sz="1950" b="1" i="0" dirty="0">
                <a:solidFill>
                  <a:srgbClr val="F5F0E6"/>
                </a:solidFill>
                <a:latin typeface="DejaVu Serif"/>
                <a:ea typeface="DejaVu Serif"/>
                <a:cs typeface="DejaVu Serif"/>
              </a:rPr>
              <a:t>(f)]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657E28-08B2-4099-9AD8-EA433CFA3550}"/>
              </a:ext>
            </a:extLst>
          </p:cNvPr>
          <p:cNvSpPr>
            <a:spLocks noGrp="1"/>
          </p:cNvSpPr>
          <p:nvPr/>
        </p:nvSpPr>
        <p:spPr>
          <a:xfrm>
            <a:off x="704850" y="541020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240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40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dBc/Hz</a:t>
            </a:r>
          </a:p>
        </p:txBody>
      </p:sp>
    </p:spTree>
    <p:extLst>
      <p:ext uri="{BB962C8B-B14F-4D97-AF65-F5344CB8AC3E}">
        <p14:creationId xmlns:p14="http://schemas.microsoft.com/office/powerpoint/2010/main" val="252160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D87AD5E-DAA7-4B83-9D7D-E841163A0D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51134D-9D7D-427B-90F4-1637AA5B28B7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FAZ GÜRÜLTÜSÜNÜN ETKILERI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4BFA5B-9538-4939-9C12-2047BF4D41A8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Spectral Regrowth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4A384F-5F7C-424A-948E-C162DB23828F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FFF5C35E-0D68-46A2-B431-632826EB6699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FDA5D3-0A18-4DFB-8E36-DDAA238ACEC9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43C3E13-EDEA-4201-A7B5-27BCC5610C98}"/>
              </a:ext>
            </a:extLst>
          </p:cNvPr>
          <p:cNvSpPr>
            <a:spLocks noGrp="1"/>
          </p:cNvSpPr>
          <p:nvPr/>
        </p:nvSpPr>
        <p:spPr>
          <a:xfrm>
            <a:off x="647700" y="1587485"/>
            <a:ext cx="5095875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tr-TR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9625" y="1891550"/>
            <a:ext cx="4762500" cy="157827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FF9E316-FB9F-4737-8E63-1CB617A97A9A}"/>
              </a:ext>
            </a:extLst>
          </p:cNvPr>
          <p:cNvSpPr>
            <a:spLocks noGrp="1"/>
          </p:cNvSpPr>
          <p:nvPr/>
        </p:nvSpPr>
        <p:spPr>
          <a:xfrm>
            <a:off x="6048375" y="1381125"/>
            <a:ext cx="5476875" cy="371475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38875" y="2251341"/>
            <a:ext cx="5095875" cy="237871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1FE5128-2A67-424C-A069-6B2C45E8C9EE}"/>
              </a:ext>
            </a:extLst>
          </p:cNvPr>
          <p:cNvSpPr>
            <a:spLocks noGrp="1"/>
          </p:cNvSpPr>
          <p:nvPr/>
        </p:nvSpPr>
        <p:spPr>
          <a:xfrm>
            <a:off x="857250" y="401539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 i="0" dirty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LO </a:t>
            </a:r>
            <a:r>
              <a:rPr sz="1800" b="1" i="0" dirty="0" err="1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faz</a:t>
            </a:r>
            <a:r>
              <a:rPr sz="1800" b="1" i="0" dirty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800" b="1" i="0" dirty="0" err="1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gürültüsü</a:t>
            </a:r>
            <a:endParaRPr sz="1800" b="1" i="0" dirty="0">
              <a:solidFill>
                <a:srgbClr val="1769D2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876D79-439D-4FFE-93AB-E5DF39B7091C}"/>
              </a:ext>
            </a:extLst>
          </p:cNvPr>
          <p:cNvSpPr>
            <a:spLocks noGrp="1"/>
          </p:cNvSpPr>
          <p:nvPr/>
        </p:nvSpPr>
        <p:spPr>
          <a:xfrm>
            <a:off x="857250" y="4486275"/>
            <a:ext cx="4381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250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mikserde</a:t>
            </a:r>
            <a:r>
              <a:rPr sz="22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2250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giriş</a:t>
            </a:r>
            <a:r>
              <a:rPr sz="22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2250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sinyaliyle</a:t>
            </a:r>
            <a:r>
              <a:rPr sz="22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2250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karışır</a:t>
            </a:r>
            <a:endParaRPr sz="2250" b="1" i="0" dirty="0">
              <a:solidFill>
                <a:srgbClr val="14213D"/>
              </a:solidFill>
              <a:latin typeface="DejaVu Sans Condensed"/>
              <a:ea typeface="DejaVu Sans Condensed"/>
              <a:cs typeface="DejaVu Sans Condensed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A2132E-C762-4FBD-9741-58E2AB532E61}"/>
              </a:ext>
            </a:extLst>
          </p:cNvPr>
          <p:cNvSpPr>
            <a:spLocks noGrp="1"/>
          </p:cNvSpPr>
          <p:nvPr/>
        </p:nvSpPr>
        <p:spPr>
          <a:xfrm>
            <a:off x="857250" y="5694510"/>
            <a:ext cx="10096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0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Gürültü</a:t>
            </a:r>
            <a:r>
              <a:rPr sz="1800" b="0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yükseldikçe</a:t>
            </a:r>
            <a:r>
              <a:rPr sz="1800" b="0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enerji</a:t>
            </a:r>
            <a:r>
              <a:rPr sz="1800" b="0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komşu</a:t>
            </a:r>
            <a:r>
              <a:rPr sz="1800" b="0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kanallara</a:t>
            </a:r>
            <a:r>
              <a:rPr sz="1800" b="0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yayılır</a:t>
            </a:r>
            <a:r>
              <a:rPr sz="1800" b="0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ve</a:t>
            </a:r>
            <a:r>
              <a:rPr sz="1800" b="0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spektral</a:t>
            </a:r>
            <a:r>
              <a:rPr sz="1800" b="0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maske</a:t>
            </a:r>
            <a:r>
              <a:rPr sz="1800" b="0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bozulur</a:t>
            </a:r>
            <a:r>
              <a:rPr sz="1800" b="0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536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22635CF-6CB6-4BD8-93CC-2841D10E84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9B03C4-C004-49EE-8916-189DF7963221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FAZ GÜRÜLTÜSÜNÜN ETKILERI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6F26FA-EFD6-419C-9A5E-25C3F0A4FE37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Reciprocal Mixing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067D3C-1593-4FC7-8B6D-7D978447A469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06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2989B1A6-8CE1-440E-B0CE-F99579E99724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D3938A-C65B-46F8-A50C-1F6856858DDA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45229D-7A2E-478D-A438-BE7FE7AE9444}"/>
              </a:ext>
            </a:extLst>
          </p:cNvPr>
          <p:cNvSpPr>
            <a:spLocks noGrp="1"/>
          </p:cNvSpPr>
          <p:nvPr/>
        </p:nvSpPr>
        <p:spPr>
          <a:xfrm>
            <a:off x="648607" y="2009589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 i="0" dirty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İdeal LO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D026-A825-4F2D-A84A-28FCC2289F03}"/>
              </a:ext>
            </a:extLst>
          </p:cNvPr>
          <p:cNvSpPr>
            <a:spLocks noGrp="1"/>
          </p:cNvSpPr>
          <p:nvPr/>
        </p:nvSpPr>
        <p:spPr>
          <a:xfrm>
            <a:off x="6096000" y="1966913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 i="0" dirty="0" err="1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Faz</a:t>
            </a:r>
            <a:r>
              <a:rPr sz="1650" b="1" i="0" dirty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 b="1" i="0" dirty="0" err="1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gürültülü</a:t>
            </a:r>
            <a:r>
              <a:rPr sz="1650" b="1" i="0" dirty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 LO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B69EBD4-F427-4041-8E95-307B6A307EDC}"/>
              </a:ext>
            </a:extLst>
          </p:cNvPr>
          <p:cNvSpPr>
            <a:spLocks noGrp="1"/>
          </p:cNvSpPr>
          <p:nvPr/>
        </p:nvSpPr>
        <p:spPr>
          <a:xfrm>
            <a:off x="647700" y="2338388"/>
            <a:ext cx="5095875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tr-TR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0100" y="2643001"/>
            <a:ext cx="4791075" cy="1657725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DDA4CA-048A-4DAC-B3CD-B612B7BB3F18}"/>
              </a:ext>
            </a:extLst>
          </p:cNvPr>
          <p:cNvSpPr>
            <a:spLocks noGrp="1"/>
          </p:cNvSpPr>
          <p:nvPr/>
        </p:nvSpPr>
        <p:spPr>
          <a:xfrm>
            <a:off x="6048375" y="2338388"/>
            <a:ext cx="5476875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00775" y="2675288"/>
            <a:ext cx="5172075" cy="1593150"/>
          </a:xfrm>
          <a:prstGeom prst="rect">
            <a:avLst/>
          </a:prstGeom>
        </p:spPr>
      </p:pic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D3164395-87AB-425E-844B-8D9B7D4D790D}"/>
              </a:ext>
            </a:extLst>
          </p:cNvPr>
          <p:cNvSpPr>
            <a:spLocks noGrp="1"/>
          </p:cNvSpPr>
          <p:nvPr/>
        </p:nvSpPr>
        <p:spPr>
          <a:xfrm>
            <a:off x="5876925" y="2366963"/>
            <a:ext cx="0" cy="2266950"/>
          </a:xfrm>
          <a:prstGeom prst="line">
            <a:avLst/>
          </a:prstGeom>
          <a:noFill/>
          <a:ln w="38100">
            <a:solidFill>
              <a:srgbClr val="F04E3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438B13-07DA-4CA9-9200-3DCCC542298F}"/>
              </a:ext>
            </a:extLst>
          </p:cNvPr>
          <p:cNvSpPr>
            <a:spLocks noGrp="1"/>
          </p:cNvSpPr>
          <p:nvPr/>
        </p:nvSpPr>
        <p:spPr>
          <a:xfrm>
            <a:off x="1476375" y="5243513"/>
            <a:ext cx="9239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22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250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Güçlü</a:t>
            </a:r>
            <a:r>
              <a:rPr sz="22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2250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komşu</a:t>
            </a:r>
            <a:r>
              <a:rPr sz="22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2250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sinyalin</a:t>
            </a:r>
            <a:r>
              <a:rPr sz="22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2250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yayılan</a:t>
            </a:r>
            <a:r>
              <a:rPr sz="22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2250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gürültü</a:t>
            </a:r>
            <a:r>
              <a:rPr sz="22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2250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eteği</a:t>
            </a:r>
            <a:r>
              <a:rPr sz="22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, </a:t>
            </a:r>
            <a:r>
              <a:rPr sz="2250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filtreden</a:t>
            </a:r>
            <a:r>
              <a:rPr sz="22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2250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geçmese</a:t>
            </a:r>
            <a:r>
              <a:rPr sz="22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 bile </a:t>
            </a:r>
            <a:r>
              <a:rPr sz="2250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istenen</a:t>
            </a:r>
            <a:r>
              <a:rPr sz="22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2250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zayıf</a:t>
            </a:r>
            <a:r>
              <a:rPr sz="22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2250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sinyali</a:t>
            </a:r>
            <a:r>
              <a:rPr sz="22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2250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örtebilir</a:t>
            </a:r>
            <a:r>
              <a:rPr sz="22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6151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951FDDD-C09D-44C7-99FA-7A4837AE6F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520809-9CD3-4C7E-AFD3-D35BD4612C63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FAZ GÜRÜLTÜSÜNÜN ETKILERI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40A670-8CEF-4CED-B64A-0279DB86DA54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Faz Gürültüsü ve 16-QAM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E29F23-05EB-4C14-8A68-2D466D4A91A5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07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A72D73E-D738-4A0E-B076-3911BD51BB3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C92EF3-DA2D-469B-A9F2-73CA1CE029E5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20691E-0C0C-4412-A70C-39A3B8914619}"/>
              </a:ext>
            </a:extLst>
          </p:cNvPr>
          <p:cNvSpPr>
            <a:spLocks noGrp="1"/>
          </p:cNvSpPr>
          <p:nvPr/>
        </p:nvSpPr>
        <p:spPr>
          <a:xfrm>
            <a:off x="1571625" y="1381125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650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İdeal semboller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146EB6-E3DE-4CAE-8E97-BD7A1DACE6B0}"/>
              </a:ext>
            </a:extLst>
          </p:cNvPr>
          <p:cNvSpPr>
            <a:spLocks noGrp="1"/>
          </p:cNvSpPr>
          <p:nvPr/>
        </p:nvSpPr>
        <p:spPr>
          <a:xfrm>
            <a:off x="7524750" y="1381125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6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Faz saçılması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08132C-D9A2-4295-B7CB-9482423EC193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40005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94331" y="2076450"/>
            <a:ext cx="3107338" cy="2905125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0DCC4B1-A3F7-43D2-9FA4-AD5E1E359B71}"/>
              </a:ext>
            </a:extLst>
          </p:cNvPr>
          <p:cNvSpPr>
            <a:spLocks noGrp="1"/>
          </p:cNvSpPr>
          <p:nvPr/>
        </p:nvSpPr>
        <p:spPr>
          <a:xfrm>
            <a:off x="7143750" y="1809750"/>
            <a:ext cx="40005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684909" y="2076450"/>
            <a:ext cx="2918182" cy="290512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BED70B-BF50-4253-BC64-A5D0EF41D70F}"/>
              </a:ext>
            </a:extLst>
          </p:cNvPr>
          <p:cNvSpPr>
            <a:spLocks noGrp="1"/>
          </p:cNvSpPr>
          <p:nvPr/>
        </p:nvSpPr>
        <p:spPr>
          <a:xfrm>
            <a:off x="5581650" y="2905125"/>
            <a:ext cx="1000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540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540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rPr>
              <a:t>→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9777D7-3842-4697-93E1-DAE86EBAA079}"/>
              </a:ext>
            </a:extLst>
          </p:cNvPr>
          <p:cNvSpPr>
            <a:spLocks noGrp="1"/>
          </p:cNvSpPr>
          <p:nvPr/>
        </p:nvSpPr>
        <p:spPr>
          <a:xfrm>
            <a:off x="2381250" y="5619750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9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Sembol kümeleri yayılır; EVM ve bit hata olasılığı artar.</a:t>
            </a:r>
          </a:p>
        </p:txBody>
      </p:sp>
    </p:spTree>
    <p:extLst>
      <p:ext uri="{BB962C8B-B14F-4D97-AF65-F5344CB8AC3E}">
        <p14:creationId xmlns:p14="http://schemas.microsoft.com/office/powerpoint/2010/main" val="594674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4D9DA92-E531-48EB-9916-266B20141E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0D393E-727E-40B1-B33E-78E362F91549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GÜRÜLTÜ MODELI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A35241-5B7A-4C60-96C5-0D10410637E1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Faz Gürültüsü Çeşitleri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D14B22-B9D9-417A-B04A-02EC751A93A4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08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4421E2A3-1AED-48B5-BBCD-E9E71CBBC74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C49028-A883-4250-AFB3-AC77173277AB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C61F20-293C-434B-A9DB-C16099424EB1}"/>
              </a:ext>
            </a:extLst>
          </p:cNvPr>
          <p:cNvSpPr>
            <a:spLocks noGrp="1"/>
          </p:cNvSpPr>
          <p:nvPr/>
        </p:nvSpPr>
        <p:spPr>
          <a:xfrm>
            <a:off x="4857750" y="1381125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95875" y="1798615"/>
            <a:ext cx="6191250" cy="311789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F003AFF-1081-4A73-AAC8-2B639522EA4C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95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1769D2"/>
                </a:solidFill>
                <a:latin typeface="DejaVu Serif"/>
                <a:ea typeface="DejaVu Serif"/>
                <a:cs typeface="DejaVu Serif"/>
              </a:defRPr>
            </a:pPr>
            <a:r>
              <a:rPr sz="2025" b="1" i="0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1/f⁴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A77606-884E-45D8-A54E-FBDAE9ABB9CA}"/>
              </a:ext>
            </a:extLst>
          </p:cNvPr>
          <p:cNvSpPr>
            <a:spLocks noGrp="1"/>
          </p:cNvSpPr>
          <p:nvPr/>
        </p:nvSpPr>
        <p:spPr>
          <a:xfrm>
            <a:off x="1857375" y="15525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−40 dB/dekad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EC6115-A6B3-427E-B117-F49BD5D16B5C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Random-walk FM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B74BBF-A6D5-484C-BA11-704D6C627974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1095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04E35"/>
                </a:solidFill>
                <a:latin typeface="DejaVu Serif"/>
                <a:ea typeface="DejaVu Serif"/>
                <a:cs typeface="DejaVu Serif"/>
              </a:defRPr>
            </a:pPr>
            <a:r>
              <a:rPr sz="2025" b="1" i="0">
                <a:solidFill>
                  <a:srgbClr val="F04E35"/>
                </a:solidFill>
                <a:latin typeface="DejaVu Serif"/>
                <a:ea typeface="DejaVu Serif"/>
                <a:cs typeface="DejaVu Serif"/>
              </a:rPr>
              <a:t>1/f³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CE3104-281A-49FD-9EF2-21662B08A243}"/>
              </a:ext>
            </a:extLst>
          </p:cNvPr>
          <p:cNvSpPr>
            <a:spLocks noGrp="1"/>
          </p:cNvSpPr>
          <p:nvPr/>
        </p:nvSpPr>
        <p:spPr>
          <a:xfrm>
            <a:off x="1857375" y="22955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−30 dB/dekad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76D1D8-8347-45CF-BF54-B1BA950DB833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Flicker FM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158C7F-AE31-4764-9993-00C2071AEAC4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1095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1769D2"/>
                </a:solidFill>
                <a:latin typeface="DejaVu Serif"/>
                <a:ea typeface="DejaVu Serif"/>
                <a:cs typeface="DejaVu Serif"/>
              </a:defRPr>
            </a:pPr>
            <a:r>
              <a:rPr sz="2025" b="1" i="0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1/f²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3AA5A6-45AC-430E-963E-46763584F015}"/>
              </a:ext>
            </a:extLst>
          </p:cNvPr>
          <p:cNvSpPr>
            <a:spLocks noGrp="1"/>
          </p:cNvSpPr>
          <p:nvPr/>
        </p:nvSpPr>
        <p:spPr>
          <a:xfrm>
            <a:off x="1857375" y="30384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−20 dB/dekad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D60D5B-C276-4301-8B1D-1A59CFDCCA3C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White FM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F37071-5776-41DF-9A55-4355249224BB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1095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1769D2"/>
                </a:solidFill>
                <a:latin typeface="DejaVu Serif"/>
                <a:ea typeface="DejaVu Serif"/>
                <a:cs typeface="DejaVu Serif"/>
              </a:defRPr>
            </a:pPr>
            <a:r>
              <a:rPr sz="2025" b="1" i="0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1/f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5B8EE5-FB24-4126-AD71-622A7E4C973B}"/>
              </a:ext>
            </a:extLst>
          </p:cNvPr>
          <p:cNvSpPr>
            <a:spLocks noGrp="1"/>
          </p:cNvSpPr>
          <p:nvPr/>
        </p:nvSpPr>
        <p:spPr>
          <a:xfrm>
            <a:off x="1857375" y="37814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−10 dB/dekad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7B09D8-A529-4CF6-9C6A-CDBDCB85FD4C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Flicker PM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237143-D2B5-49AC-A921-4A918DD88E86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1095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1769D2"/>
                </a:solidFill>
                <a:latin typeface="DejaVu Serif"/>
                <a:ea typeface="DejaVu Serif"/>
                <a:cs typeface="DejaVu Serif"/>
              </a:defRPr>
            </a:pPr>
            <a:r>
              <a:rPr sz="2025" b="1" i="0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sabit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3E89A5-CE14-4E01-89A3-153FD64FF54A}"/>
              </a:ext>
            </a:extLst>
          </p:cNvPr>
          <p:cNvSpPr>
            <a:spLocks noGrp="1"/>
          </p:cNvSpPr>
          <p:nvPr/>
        </p:nvSpPr>
        <p:spPr>
          <a:xfrm>
            <a:off x="1857375" y="45243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0 dB/dekad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188577-B02D-4CB1-B600-FB81C9A1B527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White PM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4A2C7D-ADAF-4ADC-B208-F116CCC855DF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3905250" cy="590550"/>
          </a:xfrm>
          <a:prstGeom prst="rect">
            <a:avLst/>
          </a:prstGeom>
          <a:solidFill>
            <a:srgbClr val="D8F15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F80E08-1186-41D4-B1CB-A8547721FDA4}"/>
              </a:ext>
            </a:extLst>
          </p:cNvPr>
          <p:cNvSpPr>
            <a:spLocks noGrp="1"/>
          </p:cNvSpPr>
          <p:nvPr/>
        </p:nvSpPr>
        <p:spPr>
          <a:xfrm>
            <a:off x="838200" y="5553075"/>
            <a:ext cx="3600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Bu modelde: 1/f³ Flicker FM</a:t>
            </a:r>
          </a:p>
        </p:txBody>
      </p:sp>
    </p:spTree>
    <p:extLst>
      <p:ext uri="{BB962C8B-B14F-4D97-AF65-F5344CB8AC3E}">
        <p14:creationId xmlns:p14="http://schemas.microsoft.com/office/powerpoint/2010/main" val="848053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19D7BA4-8215-44E8-BDB5-4871049400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5A63B6-86B8-4165-B411-0C4D3EC3F558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ÖLÇÜM YÖNTEMLERI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8DC3FD-7997-4DEA-80AB-99CC2802A609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Doğrudan Spektral Analiz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31D6E5-0ED3-4D0D-BE86-B6F57BD43FF1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09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2C9B102-FD16-408D-975C-D31F9F9068BB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0ACFB0-2EF5-437A-8C56-CF53DF8BA522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8B83B1-B561-48B4-87D5-6C6560266870}"/>
              </a:ext>
            </a:extLst>
          </p:cNvPr>
          <p:cNvSpPr>
            <a:spLocks noGrp="1"/>
          </p:cNvSpPr>
          <p:nvPr/>
        </p:nvSpPr>
        <p:spPr>
          <a:xfrm>
            <a:off x="5810250" y="1428750"/>
            <a:ext cx="5619750" cy="371475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0" y="2367330"/>
            <a:ext cx="5048250" cy="18375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4225D4F-3DE0-4CF3-804E-02BFD7F68357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66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900" b="1" i="0" dirty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F433AF-7D59-4BC5-9715-B77266178B0E}"/>
              </a:ext>
            </a:extLst>
          </p:cNvPr>
          <p:cNvSpPr>
            <a:spLocks noGrp="1"/>
          </p:cNvSpPr>
          <p:nvPr/>
        </p:nvSpPr>
        <p:spPr>
          <a:xfrm>
            <a:off x="1428750" y="1743075"/>
            <a:ext cx="361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325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325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DUT </a:t>
            </a:r>
            <a:r>
              <a:rPr sz="2325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doğrudan</a:t>
            </a:r>
            <a:r>
              <a:rPr sz="2325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2325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analizöre</a:t>
            </a:r>
            <a:r>
              <a:rPr sz="2325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2325" b="1" i="0" dirty="0" err="1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bağlanır</a:t>
            </a:r>
            <a:endParaRPr sz="2325" b="1" i="0" dirty="0">
              <a:solidFill>
                <a:srgbClr val="14213D"/>
              </a:solidFill>
              <a:latin typeface="DejaVu Sans Condensed"/>
              <a:ea typeface="DejaVu Sans Condensed"/>
              <a:cs typeface="DejaVu Sans Condensed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B9BDB9-BC4C-4058-9FDE-F1F6AA380CA8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E9B7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1" i="0">
                <a:solidFill>
                  <a:srgbClr val="1E9B72"/>
                </a:solidFill>
                <a:latin typeface="DejaVu Sans Mono"/>
                <a:ea typeface="DejaVu Sans Mono"/>
                <a:cs typeface="DejaVu Sans Mono"/>
              </a:rPr>
              <a:t>Hızlı ve basit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C0E015-F0BD-4161-BF3E-64EA92AEE94F}"/>
              </a:ext>
            </a:extLst>
          </p:cNvPr>
          <p:cNvSpPr>
            <a:spLocks noGrp="1"/>
          </p:cNvSpPr>
          <p:nvPr/>
        </p:nvSpPr>
        <p:spPr>
          <a:xfrm>
            <a:off x="685800" y="3381375"/>
            <a:ext cx="44767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Ancak ölçülebilecek en düşük seviye, analizörün kendi LO faz gürültüsü ve gürültü tabanıyla sınırlıdır.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5FBCC2-F1EA-416E-AAC6-53DF8A5FD358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4476750" cy="533400"/>
          </a:xfrm>
          <a:prstGeom prst="rect">
            <a:avLst/>
          </a:prstGeom>
          <a:solidFill>
            <a:srgbClr val="FADDD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7B61C1-2C50-49DB-9738-7BCE060D3071}"/>
              </a:ext>
            </a:extLst>
          </p:cNvPr>
          <p:cNvSpPr>
            <a:spLocks noGrp="1"/>
          </p:cNvSpPr>
          <p:nvPr/>
        </p:nvSpPr>
        <p:spPr>
          <a:xfrm>
            <a:off x="819150" y="5334000"/>
            <a:ext cx="421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425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Analizör DUT’den daha temiz olmalı</a:t>
            </a:r>
          </a:p>
        </p:txBody>
      </p:sp>
    </p:spTree>
    <p:extLst>
      <p:ext uri="{BB962C8B-B14F-4D97-AF65-F5344CB8AC3E}">
        <p14:creationId xmlns:p14="http://schemas.microsoft.com/office/powerpoint/2010/main" val="1595179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D511C59-637D-4439-8796-31FC3276D6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10D015-B7ED-48FF-968C-827304CA9D71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ÖLÇÜM YÖNTEMLERI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3A3C3C-ECCF-4DC8-994C-B144598BE3E8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Faz Detektörü Yöntemi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3057DB-EA4E-4C71-81A0-9060516566FD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10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3F821B7E-45B0-4E31-A7B3-079EB614B93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CFBA1E-1DF8-4710-9547-BAB04026E435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9DB7BD-E00B-4E4D-AB42-A0440423312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10875" cy="295275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55189" y="1571625"/>
            <a:ext cx="6081623" cy="257175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3384B0-3500-4D10-A5CD-C49348A7C063}"/>
              </a:ext>
            </a:extLst>
          </p:cNvPr>
          <p:cNvSpPr>
            <a:spLocks noGrp="1"/>
          </p:cNvSpPr>
          <p:nvPr/>
        </p:nvSpPr>
        <p:spPr>
          <a:xfrm>
            <a:off x="838200" y="4762500"/>
            <a:ext cx="4857750" cy="838200"/>
          </a:xfrm>
          <a:prstGeom prst="roundRect">
            <a:avLst>
              <a:gd name="adj" fmla="val 11364"/>
            </a:avLst>
          </a:prstGeom>
          <a:solidFill>
            <a:srgbClr val="14213D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427ED0-0CB8-4281-A899-61B984530924}"/>
              </a:ext>
            </a:extLst>
          </p:cNvPr>
          <p:cNvSpPr>
            <a:spLocks noGrp="1"/>
          </p:cNvSpPr>
          <p:nvPr/>
        </p:nvSpPr>
        <p:spPr>
          <a:xfrm>
            <a:off x="1028700" y="49911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2100" b="1" i="0">
                <a:solidFill>
                  <a:srgbClr val="F5F0E6"/>
                </a:solidFill>
                <a:latin typeface="DejaVu Serif"/>
                <a:ea typeface="DejaVu Serif"/>
                <a:cs typeface="DejaVu Serif"/>
              </a:defRPr>
            </a:pPr>
            <a:r>
              <a:rPr sz="2100" b="1" i="0">
                <a:solidFill>
                  <a:srgbClr val="F5F0E6"/>
                </a:solidFill>
                <a:latin typeface="DejaVu Serif"/>
                <a:ea typeface="DejaVu Serif"/>
                <a:cs typeface="DejaVu Serif"/>
              </a:rPr>
              <a:t>y(t) ≈ φD(t) − φR(t)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47BDA0-731B-42B3-A94D-D93E3FFC239A}"/>
              </a:ext>
            </a:extLst>
          </p:cNvPr>
          <p:cNvSpPr>
            <a:spLocks noGrp="1"/>
          </p:cNvSpPr>
          <p:nvPr/>
        </p:nvSpPr>
        <p:spPr>
          <a:xfrm>
            <a:off x="6191250" y="47148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1E9B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1E9B72"/>
                </a:solidFill>
                <a:latin typeface="DejaVu Sans"/>
                <a:ea typeface="DejaVu Sans"/>
                <a:cs typeface="DejaVu Sans"/>
              </a:rPr>
              <a:t>Taşıyıcı bastırılır; hassasiyet artar.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B9AE5D-ECD5-4130-8A4A-219BFD5FC441}"/>
              </a:ext>
            </a:extLst>
          </p:cNvPr>
          <p:cNvSpPr>
            <a:spLocks noGrp="1"/>
          </p:cNvSpPr>
          <p:nvPr/>
        </p:nvSpPr>
        <p:spPr>
          <a:xfrm>
            <a:off x="6191250" y="5162550"/>
            <a:ext cx="495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Fakat sonuç DUT + referans gürültüsünü birlikte içerir.</a:t>
            </a:r>
          </a:p>
        </p:txBody>
      </p:sp>
    </p:spTree>
    <p:extLst>
      <p:ext uri="{BB962C8B-B14F-4D97-AF65-F5344CB8AC3E}">
        <p14:creationId xmlns:p14="http://schemas.microsoft.com/office/powerpoint/2010/main" val="973397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A068184-B48B-4702-BCE6-855A00C859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F0037E-8F17-4CDF-A917-B983D78B1DDB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ÖLÇÜM YÖNTEMLERI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710ECA-3773-4185-B30A-4963C8A90AFA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Cross-Correlation ile Faz Detektörü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665DCF-F72C-49E0-8303-26C313A06DDC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11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E0A3E6D9-5699-4D72-806F-71BF47A13EF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A7A4B5-35D5-4FBD-8561-10DAABCC96B7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9D3DCC-BBAD-4488-803A-7D60AE22E6B5}"/>
              </a:ext>
            </a:extLst>
          </p:cNvPr>
          <p:cNvSpPr>
            <a:spLocks noGrp="1"/>
          </p:cNvSpPr>
          <p:nvPr/>
        </p:nvSpPr>
        <p:spPr>
          <a:xfrm>
            <a:off x="1357312" y="6029376"/>
            <a:ext cx="9477375" cy="371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F04E3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i="0" dirty="0">
                <a:solidFill>
                  <a:srgbClr val="F04E35"/>
                </a:solidFill>
                <a:latin typeface="DejaVu Sans"/>
                <a:ea typeface="DejaVu Sans"/>
                <a:cs typeface="DejaVu Sans"/>
              </a:rPr>
              <a:t>DUT </a:t>
            </a:r>
            <a:r>
              <a:rPr sz="1800" b="1" i="0" dirty="0" err="1">
                <a:solidFill>
                  <a:srgbClr val="F04E35"/>
                </a:solidFill>
                <a:latin typeface="DejaVu Sans"/>
                <a:ea typeface="DejaVu Sans"/>
                <a:cs typeface="DejaVu Sans"/>
              </a:rPr>
              <a:t>iki</a:t>
            </a:r>
            <a:r>
              <a:rPr sz="1800" b="1" i="0" dirty="0">
                <a:solidFill>
                  <a:srgbClr val="F04E35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i="0" dirty="0" err="1">
                <a:solidFill>
                  <a:srgbClr val="F04E35"/>
                </a:solidFill>
                <a:latin typeface="DejaVu Sans"/>
                <a:ea typeface="DejaVu Sans"/>
                <a:cs typeface="DejaVu Sans"/>
              </a:rPr>
              <a:t>kanalda</a:t>
            </a:r>
            <a:r>
              <a:rPr sz="1800" b="1" i="0" dirty="0">
                <a:solidFill>
                  <a:srgbClr val="F04E35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i="0" dirty="0" err="1">
                <a:solidFill>
                  <a:srgbClr val="F04E35"/>
                </a:solidFill>
                <a:latin typeface="DejaVu Sans"/>
                <a:ea typeface="DejaVu Sans"/>
                <a:cs typeface="DejaVu Sans"/>
              </a:rPr>
              <a:t>ortak</a:t>
            </a:r>
            <a:r>
              <a:rPr sz="1800" b="1" i="0" dirty="0">
                <a:solidFill>
                  <a:srgbClr val="F04E35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800" b="1" i="0" dirty="0" err="1">
                <a:solidFill>
                  <a:srgbClr val="F04E35"/>
                </a:solidFill>
                <a:latin typeface="DejaVu Sans"/>
                <a:ea typeface="DejaVu Sans"/>
                <a:cs typeface="DejaVu Sans"/>
              </a:rPr>
              <a:t>referanslar</a:t>
            </a:r>
            <a:r>
              <a:rPr sz="1800" b="1" i="0" dirty="0">
                <a:solidFill>
                  <a:srgbClr val="F04E35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i="0" dirty="0" err="1">
                <a:solidFill>
                  <a:srgbClr val="F04E35"/>
                </a:solidFill>
                <a:latin typeface="DejaVu Sans"/>
                <a:ea typeface="DejaVu Sans"/>
                <a:cs typeface="DejaVu Sans"/>
              </a:rPr>
              <a:t>kanallar</a:t>
            </a:r>
            <a:r>
              <a:rPr sz="1800" b="1" i="0" dirty="0">
                <a:solidFill>
                  <a:srgbClr val="F04E35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i="0" dirty="0" err="1">
                <a:solidFill>
                  <a:srgbClr val="F04E35"/>
                </a:solidFill>
                <a:latin typeface="DejaVu Sans"/>
                <a:ea typeface="DejaVu Sans"/>
                <a:cs typeface="DejaVu Sans"/>
              </a:rPr>
              <a:t>arasında</a:t>
            </a:r>
            <a:r>
              <a:rPr sz="1800" b="1" i="0" dirty="0">
                <a:solidFill>
                  <a:srgbClr val="F04E35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i="0" dirty="0" err="1">
                <a:solidFill>
                  <a:srgbClr val="F04E35"/>
                </a:solidFill>
                <a:latin typeface="DejaVu Sans"/>
                <a:ea typeface="DejaVu Sans"/>
                <a:cs typeface="DejaVu Sans"/>
              </a:rPr>
              <a:t>korelasyonsuzdur</a:t>
            </a:r>
            <a:r>
              <a:rPr sz="1800" b="1" i="0" dirty="0">
                <a:solidFill>
                  <a:srgbClr val="F04E35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2225608-6928-42D0-B84D-84261F6D808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96597" y="1450756"/>
            <a:ext cx="7398806" cy="429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110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331469A-6793-4559-98FE-3CF06A3768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0F1452-51E2-40F2-8778-84385C9229CF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DEE73-BB28-4236-97DE-DEB2958F23BF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Analizör Modeli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931C19-C244-4878-8325-BB0C19F88BEB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 lang="tr-TR" sz="1275" b="1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2</a:t>
            </a:r>
            <a:endParaRPr sz="1275" b="1" i="0" dirty="0">
              <a:solidFill>
                <a:srgbClr val="6B728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B013650-76A5-48B1-9C9A-9CBD5C2978F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0D63B-E62C-4A86-BC32-ED4B747091B9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CA9972-7D75-48E7-9489-8BBDCDB6DBF2}"/>
              </a:ext>
            </a:extLst>
          </p:cNvPr>
          <p:cNvSpPr>
            <a:spLocks noGrp="1"/>
          </p:cNvSpPr>
          <p:nvPr/>
        </p:nvSpPr>
        <p:spPr>
          <a:xfrm>
            <a:off x="647700" y="2809875"/>
            <a:ext cx="1190625" cy="952500"/>
          </a:xfrm>
          <a:prstGeom prst="roundRect">
            <a:avLst>
              <a:gd name="adj" fmla="val 10000"/>
            </a:avLst>
          </a:prstGeom>
          <a:solidFill>
            <a:srgbClr val="FADDD7"/>
          </a:solidFill>
          <a:ln w="14288">
            <a:solidFill>
              <a:srgbClr val="F04E35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DUT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86264F-38BD-433F-BE17-CC50FA3E8CF1}"/>
              </a:ext>
            </a:extLst>
          </p:cNvPr>
          <p:cNvSpPr>
            <a:spLocks noGrp="1"/>
          </p:cNvSpPr>
          <p:nvPr/>
        </p:nvSpPr>
        <p:spPr>
          <a:xfrm>
            <a:off x="2238375" y="1381125"/>
            <a:ext cx="1143000" cy="723900"/>
          </a:xfrm>
          <a:prstGeom prst="roundRect">
            <a:avLst>
              <a:gd name="adj" fmla="val 13158"/>
            </a:avLst>
          </a:prstGeom>
          <a:solidFill>
            <a:srgbClr val="DDEBFA"/>
          </a:solidFill>
          <a:ln w="14288">
            <a:solidFill>
              <a:srgbClr val="1769D2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Ref 1</a:t>
            </a:r>
          </a:p>
          <a:p>
            <a:pPr algn="ctr">
              <a:lnSpc>
                <a:spcPct val="100000"/>
              </a:lnSpc>
              <a:buNone/>
              <a:defRPr sz="135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+90°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0106F1-0FA0-446B-8D58-920B79ECF962}"/>
              </a:ext>
            </a:extLst>
          </p:cNvPr>
          <p:cNvSpPr>
            <a:spLocks noGrp="1"/>
          </p:cNvSpPr>
          <p:nvPr/>
        </p:nvSpPr>
        <p:spPr>
          <a:xfrm>
            <a:off x="2238375" y="4572000"/>
            <a:ext cx="1143000" cy="723900"/>
          </a:xfrm>
          <a:prstGeom prst="roundRect">
            <a:avLst>
              <a:gd name="adj" fmla="val 13158"/>
            </a:avLst>
          </a:prstGeom>
          <a:solidFill>
            <a:srgbClr val="BDE8D5"/>
          </a:solidFill>
          <a:ln w="14288">
            <a:solidFill>
              <a:srgbClr val="1E9B72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Ref 2</a:t>
            </a:r>
          </a:p>
          <a:p>
            <a:pPr algn="ctr">
              <a:lnSpc>
                <a:spcPct val="100000"/>
              </a:lnSpc>
              <a:buNone/>
              <a:defRPr sz="135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+90°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4AB959E-9C27-415D-BBE7-34E241AA967F}"/>
              </a:ext>
            </a:extLst>
          </p:cNvPr>
          <p:cNvSpPr>
            <a:spLocks noGrp="1"/>
          </p:cNvSpPr>
          <p:nvPr/>
        </p:nvSpPr>
        <p:spPr>
          <a:xfrm>
            <a:off x="3857625" y="1762125"/>
            <a:ext cx="114300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4288">
            <a:solidFill>
              <a:srgbClr val="14213D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 dirty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MIXER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C77F8F7-C87C-475C-8875-21C3298BCF0A}"/>
              </a:ext>
            </a:extLst>
          </p:cNvPr>
          <p:cNvSpPr>
            <a:spLocks noGrp="1"/>
          </p:cNvSpPr>
          <p:nvPr/>
        </p:nvSpPr>
        <p:spPr>
          <a:xfrm>
            <a:off x="3857625" y="4238625"/>
            <a:ext cx="114300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4288">
            <a:solidFill>
              <a:srgbClr val="14213D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MIXER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73F63A2-0CCC-4C35-A07E-46C136D54973}"/>
              </a:ext>
            </a:extLst>
          </p:cNvPr>
          <p:cNvSpPr>
            <a:spLocks noGrp="1"/>
          </p:cNvSpPr>
          <p:nvPr/>
        </p:nvSpPr>
        <p:spPr>
          <a:xfrm>
            <a:off x="5572125" y="1762125"/>
            <a:ext cx="1238250" cy="685800"/>
          </a:xfrm>
          <a:prstGeom prst="roundRect">
            <a:avLst>
              <a:gd name="adj" fmla="val 13889"/>
            </a:avLst>
          </a:prstGeom>
          <a:solidFill>
            <a:srgbClr val="ECE5D8"/>
          </a:solidFill>
          <a:ln w="14288">
            <a:solidFill>
              <a:srgbClr val="14213D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LPF</a:t>
            </a:r>
          </a:p>
          <a:p>
            <a:pPr algn="ctr">
              <a:lnSpc>
                <a:spcPct val="100000"/>
              </a:lnSpc>
              <a:buNone/>
              <a:defRPr sz="1275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4. </a:t>
            </a:r>
            <a:r>
              <a:rPr sz="1275" b="1" dirty="0" err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derece</a:t>
            </a:r>
            <a:endParaRPr sz="1275" b="1" dirty="0">
              <a:solidFill>
                <a:srgbClr val="14213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C1C67BD-0202-42B1-9DAF-F92039F35B8C}"/>
              </a:ext>
            </a:extLst>
          </p:cNvPr>
          <p:cNvSpPr>
            <a:spLocks noGrp="1"/>
          </p:cNvSpPr>
          <p:nvPr/>
        </p:nvSpPr>
        <p:spPr>
          <a:xfrm>
            <a:off x="5572125" y="4238625"/>
            <a:ext cx="1238250" cy="685800"/>
          </a:xfrm>
          <a:prstGeom prst="roundRect">
            <a:avLst>
              <a:gd name="adj" fmla="val 13889"/>
            </a:avLst>
          </a:prstGeom>
          <a:solidFill>
            <a:srgbClr val="ECE5D8"/>
          </a:solidFill>
          <a:ln w="14288">
            <a:solidFill>
              <a:srgbClr val="14213D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LPF</a:t>
            </a:r>
          </a:p>
          <a:p>
            <a:pPr algn="ctr">
              <a:lnSpc>
                <a:spcPct val="100000"/>
              </a:lnSpc>
              <a:buNone/>
              <a:defRPr sz="1275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4. derece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FD5DBC0-C44D-4033-8833-B347E057BFEF}"/>
              </a:ext>
            </a:extLst>
          </p:cNvPr>
          <p:cNvSpPr>
            <a:spLocks noGrp="1"/>
          </p:cNvSpPr>
          <p:nvPr/>
        </p:nvSpPr>
        <p:spPr>
          <a:xfrm>
            <a:off x="7381875" y="1762125"/>
            <a:ext cx="1381125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4288">
            <a:solidFill>
              <a:srgbClr val="F04E35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275" b="1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÷</a:t>
            </a:r>
            <a:r>
              <a:rPr lang="tr-TR" sz="1275" b="1" dirty="0" err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Kpd</a:t>
            </a:r>
            <a:endParaRPr lang="tr-TR" sz="1275" b="1" dirty="0">
              <a:solidFill>
                <a:srgbClr val="14213D"/>
              </a:solidFill>
              <a:latin typeface="DejaVu Sans"/>
              <a:ea typeface="DejaVu Sans"/>
              <a:cs typeface="DejaVu Sans"/>
            </a:endParaRPr>
          </a:p>
          <a:p>
            <a:pPr algn="ctr">
              <a:lnSpc>
                <a:spcPct val="100000"/>
              </a:lnSpc>
              <a:buNone/>
              <a:defRPr sz="1275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275" b="1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asin()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9625094-70B6-4902-A10B-0FEABD4FE77F}"/>
              </a:ext>
            </a:extLst>
          </p:cNvPr>
          <p:cNvSpPr>
            <a:spLocks noGrp="1"/>
          </p:cNvSpPr>
          <p:nvPr/>
        </p:nvSpPr>
        <p:spPr>
          <a:xfrm>
            <a:off x="7381875" y="4238625"/>
            <a:ext cx="1381125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4288">
            <a:solidFill>
              <a:srgbClr val="F04E35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275" b="1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÷</a:t>
            </a:r>
            <a:r>
              <a:rPr lang="tr-TR" sz="1275" b="1" dirty="0" err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Kpd</a:t>
            </a:r>
            <a:endParaRPr lang="tr-TR" sz="1275" b="1" dirty="0">
              <a:solidFill>
                <a:srgbClr val="14213D"/>
              </a:solidFill>
              <a:latin typeface="DejaVu Sans"/>
              <a:ea typeface="DejaVu Sans"/>
              <a:cs typeface="DejaVu Sans"/>
            </a:endParaRPr>
          </a:p>
          <a:p>
            <a:pPr algn="ctr">
              <a:lnSpc>
                <a:spcPct val="100000"/>
              </a:lnSpc>
              <a:buNone/>
              <a:defRPr sz="1275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275" b="1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asin()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6103CB9-5164-4BAC-B96A-6C5948A4A6E5}"/>
              </a:ext>
            </a:extLst>
          </p:cNvPr>
          <p:cNvSpPr>
            <a:spLocks noGrp="1"/>
          </p:cNvSpPr>
          <p:nvPr/>
        </p:nvSpPr>
        <p:spPr>
          <a:xfrm>
            <a:off x="9144000" y="2714625"/>
            <a:ext cx="1428750" cy="1047750"/>
          </a:xfrm>
          <a:prstGeom prst="roundRect">
            <a:avLst>
              <a:gd name="adj" fmla="val 9091"/>
            </a:avLst>
          </a:prstGeom>
          <a:solidFill>
            <a:srgbClr val="14213D"/>
          </a:solidFill>
          <a:ln w="14288">
            <a:solidFill>
              <a:srgbClr val="14213D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5F0E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5F0E6"/>
                </a:solidFill>
                <a:latin typeface="DejaVu Sans"/>
                <a:ea typeface="DejaVu Sans"/>
                <a:cs typeface="DejaVu Sans"/>
              </a:rPr>
              <a:t>FFT</a:t>
            </a:r>
          </a:p>
          <a:p>
            <a:pPr algn="ctr">
              <a:lnSpc>
                <a:spcPct val="100000"/>
              </a:lnSpc>
              <a:buNone/>
              <a:defRPr sz="1500" b="1">
                <a:solidFill>
                  <a:srgbClr val="F5F0E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5F0E6"/>
                </a:solidFill>
                <a:latin typeface="DejaVu Sans"/>
                <a:ea typeface="DejaVu Sans"/>
                <a:cs typeface="DejaVu Sans"/>
              </a:rPr>
              <a:t>X₁·X₂*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BDBAFD5-7286-493B-9CC6-91440C249AF8}"/>
              </a:ext>
            </a:extLst>
          </p:cNvPr>
          <p:cNvSpPr>
            <a:spLocks noGrp="1"/>
          </p:cNvSpPr>
          <p:nvPr/>
        </p:nvSpPr>
        <p:spPr>
          <a:xfrm>
            <a:off x="10668000" y="2724150"/>
            <a:ext cx="1333500" cy="1047750"/>
          </a:xfrm>
          <a:prstGeom prst="roundRect">
            <a:avLst>
              <a:gd name="adj" fmla="val 9091"/>
            </a:avLst>
          </a:prstGeom>
          <a:solidFill>
            <a:srgbClr val="D8F15A"/>
          </a:solidFill>
          <a:ln w="14288">
            <a:solidFill>
              <a:srgbClr val="14213D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Kompleks</a:t>
            </a:r>
          </a:p>
          <a:p>
            <a:pPr algn="ctr">
              <a:lnSpc>
                <a:spcPct val="100000"/>
              </a:lnSpc>
              <a:buNone/>
              <a:defRPr sz="120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ortalama</a:t>
            </a:r>
          </a:p>
        </p:txBody>
      </p:sp>
      <p:cxnSp>
        <p:nvCxnSpPr>
          <p:cNvPr id="48" name="Connector: Elbow 47"/>
          <p:cNvCxnSpPr>
            <a:stCxn id="7" idx="3"/>
            <a:endCxn id="10" idx="1"/>
          </p:cNvCxnSpPr>
          <p:nvPr/>
        </p:nvCxnSpPr>
        <p:spPr>
          <a:xfrm flipV="1">
            <a:off x="1838325" y="2105025"/>
            <a:ext cx="2019300" cy="1181100"/>
          </a:xfrm>
          <a:prstGeom prst="bentConnector3">
            <a:avLst>
              <a:gd name="adj1" fmla="val 88679"/>
            </a:avLst>
          </a:prstGeom>
          <a:ln w="23813">
            <a:solidFill>
              <a:srgbClr val="F04E3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9" name="Connector: Elbow 48"/>
          <p:cNvCxnSpPr>
            <a:stCxn id="7" idx="3"/>
            <a:endCxn id="11" idx="1"/>
          </p:cNvCxnSpPr>
          <p:nvPr/>
        </p:nvCxnSpPr>
        <p:spPr>
          <a:xfrm>
            <a:off x="1838325" y="3286125"/>
            <a:ext cx="2019300" cy="1295400"/>
          </a:xfrm>
          <a:prstGeom prst="bentConnector3">
            <a:avLst>
              <a:gd name="adj1" fmla="val 88679"/>
            </a:avLst>
          </a:prstGeom>
          <a:ln w="23813">
            <a:solidFill>
              <a:srgbClr val="F04E3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0" name="Connector: Elbow 49"/>
          <p:cNvCxnSpPr>
            <a:stCxn id="8" idx="3"/>
            <a:endCxn id="10" idx="1"/>
          </p:cNvCxnSpPr>
          <p:nvPr/>
        </p:nvCxnSpPr>
        <p:spPr>
          <a:xfrm>
            <a:off x="3381375" y="1743075"/>
            <a:ext cx="476250" cy="361950"/>
          </a:xfrm>
          <a:prstGeom prst="bentConnector3">
            <a:avLst>
              <a:gd name="adj1" fmla="val 50000"/>
            </a:avLst>
          </a:prstGeom>
          <a:ln w="23813">
            <a:solidFill>
              <a:srgbClr val="1769D2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1" name="Connector: Elbow 50"/>
          <p:cNvCxnSpPr>
            <a:stCxn id="9" idx="3"/>
            <a:endCxn id="11" idx="1"/>
          </p:cNvCxnSpPr>
          <p:nvPr/>
        </p:nvCxnSpPr>
        <p:spPr>
          <a:xfrm flipV="1">
            <a:off x="3381375" y="4581525"/>
            <a:ext cx="476250" cy="352425"/>
          </a:xfrm>
          <a:prstGeom prst="bentConnector3">
            <a:avLst>
              <a:gd name="adj1" fmla="val 50000"/>
            </a:avLst>
          </a:prstGeom>
          <a:ln w="23813">
            <a:solidFill>
              <a:srgbClr val="1E9B72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2" name="Straight Arrow Connector 51"/>
          <p:cNvCxnSpPr>
            <a:stCxn id="10" idx="3"/>
            <a:endCxn id="12" idx="1"/>
          </p:cNvCxnSpPr>
          <p:nvPr/>
        </p:nvCxnSpPr>
        <p:spPr>
          <a:xfrm>
            <a:off x="5000625" y="2105025"/>
            <a:ext cx="571500" cy="0"/>
          </a:xfrm>
          <a:prstGeom prst="straightConnector1">
            <a:avLst/>
          </a:prstGeom>
          <a:ln w="23813">
            <a:solidFill>
              <a:srgbClr val="1769D2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3" name="Straight Arrow Connector 52"/>
          <p:cNvCxnSpPr>
            <a:stCxn id="11" idx="3"/>
            <a:endCxn id="13" idx="1"/>
          </p:cNvCxnSpPr>
          <p:nvPr/>
        </p:nvCxnSpPr>
        <p:spPr>
          <a:xfrm>
            <a:off x="5000625" y="4581525"/>
            <a:ext cx="571500" cy="0"/>
          </a:xfrm>
          <a:prstGeom prst="straightConnector1">
            <a:avLst/>
          </a:prstGeom>
          <a:ln w="23813">
            <a:solidFill>
              <a:srgbClr val="1769D2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4" name="Straight Arrow Connector 53"/>
          <p:cNvCxnSpPr>
            <a:stCxn id="12" idx="3"/>
            <a:endCxn id="14" idx="1"/>
          </p:cNvCxnSpPr>
          <p:nvPr/>
        </p:nvCxnSpPr>
        <p:spPr>
          <a:xfrm>
            <a:off x="6810375" y="2105025"/>
            <a:ext cx="571500" cy="0"/>
          </a:xfrm>
          <a:prstGeom prst="straightConnector1">
            <a:avLst/>
          </a:prstGeom>
          <a:ln w="23813">
            <a:solidFill>
              <a:srgbClr val="1769D2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5" name="Straight Arrow Connector 54"/>
          <p:cNvCxnSpPr>
            <a:stCxn id="13" idx="3"/>
            <a:endCxn id="15" idx="1"/>
          </p:cNvCxnSpPr>
          <p:nvPr/>
        </p:nvCxnSpPr>
        <p:spPr>
          <a:xfrm>
            <a:off x="6810375" y="4581525"/>
            <a:ext cx="571500" cy="0"/>
          </a:xfrm>
          <a:prstGeom prst="straightConnector1">
            <a:avLst/>
          </a:prstGeom>
          <a:ln w="23813">
            <a:solidFill>
              <a:srgbClr val="1769D2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6" name="Connector: Elbow 55"/>
          <p:cNvCxnSpPr>
            <a:stCxn id="14" idx="3"/>
            <a:endCxn id="16" idx="1"/>
          </p:cNvCxnSpPr>
          <p:nvPr/>
        </p:nvCxnSpPr>
        <p:spPr>
          <a:xfrm>
            <a:off x="8763000" y="2105025"/>
            <a:ext cx="381000" cy="1133475"/>
          </a:xfrm>
          <a:prstGeom prst="bentConnector3">
            <a:avLst>
              <a:gd name="adj1" fmla="val 50000"/>
            </a:avLst>
          </a:prstGeom>
          <a:ln w="23813">
            <a:solidFill>
              <a:srgbClr val="1769D2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7" name="Connector: Elbow 56"/>
          <p:cNvCxnSpPr>
            <a:stCxn id="15" idx="3"/>
            <a:endCxn id="16" idx="1"/>
          </p:cNvCxnSpPr>
          <p:nvPr/>
        </p:nvCxnSpPr>
        <p:spPr>
          <a:xfrm flipV="1">
            <a:off x="8763000" y="3238500"/>
            <a:ext cx="381000" cy="1343025"/>
          </a:xfrm>
          <a:prstGeom prst="bentConnector3">
            <a:avLst>
              <a:gd name="adj1" fmla="val 50000"/>
            </a:avLst>
          </a:prstGeom>
          <a:ln w="23813">
            <a:solidFill>
              <a:srgbClr val="1E9B72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8" name="Straight Arrow Connector 57"/>
          <p:cNvCxnSpPr>
            <a:stCxn id="16" idx="3"/>
            <a:endCxn id="17" idx="1"/>
          </p:cNvCxnSpPr>
          <p:nvPr/>
        </p:nvCxnSpPr>
        <p:spPr>
          <a:xfrm>
            <a:off x="10572750" y="3238500"/>
            <a:ext cx="95250" cy="9525"/>
          </a:xfrm>
          <a:prstGeom prst="straightConnector1">
            <a:avLst/>
          </a:prstGeom>
          <a:ln w="23813">
            <a:solidFill>
              <a:srgbClr val="F04E35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D5C3105-8AC9-4B3F-8548-B1C3EB20CF2E}"/>
              </a:ext>
            </a:extLst>
          </p:cNvPr>
          <p:cNvSpPr>
            <a:spLocks noGrp="1"/>
          </p:cNvSpPr>
          <p:nvPr/>
        </p:nvSpPr>
        <p:spPr>
          <a:xfrm>
            <a:off x="1404937" y="5772150"/>
            <a:ext cx="957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6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Aynı</a:t>
            </a:r>
            <a:r>
              <a:rPr sz="1650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1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iterasyondaki</a:t>
            </a:r>
            <a:r>
              <a:rPr sz="1650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DUT </a:t>
            </a:r>
            <a:r>
              <a:rPr sz="1650" b="1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iki</a:t>
            </a:r>
            <a:r>
              <a:rPr sz="1650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1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kanalda</a:t>
            </a:r>
            <a:r>
              <a:rPr sz="1650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1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ortaktır</a:t>
            </a:r>
            <a:r>
              <a:rPr sz="1650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; Ref1 </a:t>
            </a:r>
            <a:r>
              <a:rPr sz="1650" b="1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ve</a:t>
            </a:r>
            <a:r>
              <a:rPr sz="1650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Ref2 </a:t>
            </a:r>
            <a:r>
              <a:rPr sz="1650" b="1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ayrı</a:t>
            </a:r>
            <a:r>
              <a:rPr sz="1650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1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realizasyonlardır</a:t>
            </a:r>
            <a:r>
              <a:rPr sz="1650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9430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331469A-6793-4559-98FE-3CF06A3768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0F1452-51E2-40F2-8778-84385C9229CF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r-TR" sz="1125" b="1" i="0" dirty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ADIM ADIM </a:t>
            </a:r>
            <a:r>
              <a:rPr lang="tr-TR" sz="1125" b="1" dirty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ANALİZ SÜRECİ</a:t>
            </a:r>
            <a:endParaRPr sz="1125" b="1" i="0" dirty="0">
              <a:solidFill>
                <a:srgbClr val="1769D2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DEE73-BB28-4236-97DE-DEB2958F23BF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lang="tr-TR" sz="3450" b="1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Sinyallerin oluşturulması</a:t>
            </a:r>
            <a:endParaRPr sz="3450" b="1" i="0" dirty="0">
              <a:solidFill>
                <a:srgbClr val="14213D"/>
              </a:solidFill>
              <a:latin typeface="DejaVu Sans Condensed"/>
              <a:ea typeface="DejaVu Sans Condensed"/>
              <a:cs typeface="DejaVu Sans Condense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931C19-C244-4878-8325-BB0C19F88BEB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13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B013650-76A5-48B1-9C9A-9CBD5C2978F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0D63B-E62C-4A86-BC32-ED4B747091B9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CA9972-7D75-48E7-9489-8BBDCDB6DBF2}"/>
              </a:ext>
            </a:extLst>
          </p:cNvPr>
          <p:cNvSpPr>
            <a:spLocks noGrp="1"/>
          </p:cNvSpPr>
          <p:nvPr/>
        </p:nvSpPr>
        <p:spPr>
          <a:xfrm>
            <a:off x="3294749" y="1766609"/>
            <a:ext cx="1190625" cy="714373"/>
          </a:xfrm>
          <a:prstGeom prst="roundRect">
            <a:avLst>
              <a:gd name="adj" fmla="val 10000"/>
            </a:avLst>
          </a:prstGeom>
          <a:solidFill>
            <a:srgbClr val="FADDD7"/>
          </a:solidFill>
          <a:ln w="14288">
            <a:solidFill>
              <a:srgbClr val="F04E35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DUT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86264F-38BD-433F-BE17-CC50FA3E8CF1}"/>
              </a:ext>
            </a:extLst>
          </p:cNvPr>
          <p:cNvSpPr>
            <a:spLocks noGrp="1"/>
          </p:cNvSpPr>
          <p:nvPr/>
        </p:nvSpPr>
        <p:spPr>
          <a:xfrm>
            <a:off x="7101789" y="1754000"/>
            <a:ext cx="1143000" cy="723900"/>
          </a:xfrm>
          <a:prstGeom prst="roundRect">
            <a:avLst>
              <a:gd name="adj" fmla="val 13158"/>
            </a:avLst>
          </a:prstGeom>
          <a:solidFill>
            <a:srgbClr val="DDEBFA"/>
          </a:solidFill>
          <a:ln w="14288">
            <a:solidFill>
              <a:srgbClr val="1769D2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Ref 1</a:t>
            </a:r>
          </a:p>
          <a:p>
            <a:pPr algn="ctr">
              <a:lnSpc>
                <a:spcPct val="100000"/>
              </a:lnSpc>
              <a:buNone/>
              <a:defRPr sz="135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+90°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0106F1-0FA0-446B-8D58-920B79ECF962}"/>
              </a:ext>
            </a:extLst>
          </p:cNvPr>
          <p:cNvSpPr>
            <a:spLocks noGrp="1"/>
          </p:cNvSpPr>
          <p:nvPr/>
        </p:nvSpPr>
        <p:spPr>
          <a:xfrm>
            <a:off x="8684134" y="1754000"/>
            <a:ext cx="1143000" cy="723900"/>
          </a:xfrm>
          <a:prstGeom prst="roundRect">
            <a:avLst>
              <a:gd name="adj" fmla="val 13158"/>
            </a:avLst>
          </a:prstGeom>
          <a:solidFill>
            <a:srgbClr val="BDE8D5"/>
          </a:solidFill>
          <a:ln w="14288">
            <a:solidFill>
              <a:srgbClr val="1E9B72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Ref 2</a:t>
            </a:r>
          </a:p>
          <a:p>
            <a:pPr algn="ctr">
              <a:lnSpc>
                <a:spcPct val="100000"/>
              </a:lnSpc>
              <a:buNone/>
              <a:defRPr sz="135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+90°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C875AEA-F466-4477-B44E-5DEF9EC6D3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716" y="2673163"/>
            <a:ext cx="3164689" cy="27125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F4EC83D-0E93-4D5A-BDB9-89F92A74A6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470" y="2673162"/>
            <a:ext cx="3164689" cy="271259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E637396-2292-49B0-B0FB-FD0ACD75BA8C}"/>
              </a:ext>
            </a:extLst>
          </p:cNvPr>
          <p:cNvSpPr>
            <a:spLocks noGrp="1"/>
          </p:cNvSpPr>
          <p:nvPr/>
        </p:nvSpPr>
        <p:spPr>
          <a:xfrm>
            <a:off x="1404937" y="5772150"/>
            <a:ext cx="957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6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650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DUT Sinyali ile aynı frekansa sahip referans sinyalleri oluşturulur.</a:t>
            </a:r>
            <a:endParaRPr sz="1650" b="1" i="0" dirty="0">
              <a:solidFill>
                <a:srgbClr val="33415C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454607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331469A-6793-4559-98FE-3CF06A3768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0F1452-51E2-40F2-8778-84385C9229CF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r-TR" sz="1125" b="1" i="0" dirty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ADIM ADIM </a:t>
            </a:r>
            <a:r>
              <a:rPr lang="tr-TR" sz="1125" b="1" dirty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ANALİZ SÜRECİ</a:t>
            </a:r>
            <a:endParaRPr sz="1125" b="1" i="0" dirty="0">
              <a:solidFill>
                <a:srgbClr val="1769D2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DEE73-BB28-4236-97DE-DEB2958F23BF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lang="tr-TR" sz="3450" b="1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Faz farkı ve bağımsızlık</a:t>
            </a:r>
            <a:endParaRPr sz="3450" b="1" i="0" dirty="0">
              <a:solidFill>
                <a:srgbClr val="14213D"/>
              </a:solidFill>
              <a:latin typeface="DejaVu Sans Condensed"/>
              <a:ea typeface="DejaVu Sans Condensed"/>
              <a:cs typeface="DejaVu Sans Condense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931C19-C244-4878-8325-BB0C19F88BEB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 lang="tr-TR" sz="1275" b="1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4</a:t>
            </a:r>
            <a:endParaRPr sz="1275" b="1" i="0" dirty="0">
              <a:solidFill>
                <a:srgbClr val="6B728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B013650-76A5-48B1-9C9A-9CBD5C2978F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0D63B-E62C-4A86-BC32-ED4B747091B9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E637396-2292-49B0-B0FB-FD0ACD75BA8C}"/>
              </a:ext>
            </a:extLst>
          </p:cNvPr>
          <p:cNvSpPr>
            <a:spLocks noGrp="1"/>
          </p:cNvSpPr>
          <p:nvPr/>
        </p:nvSpPr>
        <p:spPr>
          <a:xfrm>
            <a:off x="1404937" y="5772149"/>
            <a:ext cx="95726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6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650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Referansların </a:t>
            </a:r>
            <a:r>
              <a:rPr lang="tr-TR" sz="1650" b="1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DUT’ye</a:t>
            </a:r>
            <a:r>
              <a:rPr lang="tr-TR" sz="1650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göre 90 derece faz farkı vardır, </a:t>
            </a:r>
          </a:p>
          <a:p>
            <a:pPr algn="ctr">
              <a:lnSpc>
                <a:spcPct val="108000"/>
              </a:lnSpc>
              <a:buNone/>
              <a:defRPr sz="16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650" b="1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k</a:t>
            </a:r>
            <a:r>
              <a:rPr lang="tr-TR" sz="1650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arakteristik olarak aynı olsalar da realizasyonları tamamen bağımsızdır.</a:t>
            </a:r>
            <a:endParaRPr sz="1650" b="1" i="0" dirty="0">
              <a:solidFill>
                <a:srgbClr val="33415C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92834B-F79A-4EA5-922A-D0EDB653C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857" y="1390376"/>
            <a:ext cx="6938285" cy="416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18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331469A-6793-4559-98FE-3CF06A3768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0F1452-51E2-40F2-8778-84385C9229CF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r-TR" sz="1125" b="1" dirty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ADIM ADIM ANALİZ SÜRECİ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DEE73-BB28-4236-97DE-DEB2958F23BF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lang="tr-TR" sz="34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Mixer iki bileşen üretir</a:t>
            </a:r>
            <a:endParaRPr sz="3450" b="1" i="0" dirty="0">
              <a:solidFill>
                <a:srgbClr val="14213D"/>
              </a:solidFill>
              <a:latin typeface="DejaVu Sans Condensed"/>
              <a:ea typeface="DejaVu Sans Condensed"/>
              <a:cs typeface="DejaVu Sans Condense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931C19-C244-4878-8325-BB0C19F88BEB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 lang="tr-TR" sz="1275" b="1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5</a:t>
            </a:r>
            <a:endParaRPr sz="1275" b="1" i="0" dirty="0">
              <a:solidFill>
                <a:srgbClr val="6B728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B013650-76A5-48B1-9C9A-9CBD5C2978F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0D63B-E62C-4A86-BC32-ED4B747091B9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4AB959E-9C27-415D-BBE7-34E241AA967F}"/>
              </a:ext>
            </a:extLst>
          </p:cNvPr>
          <p:cNvSpPr>
            <a:spLocks noGrp="1"/>
          </p:cNvSpPr>
          <p:nvPr/>
        </p:nvSpPr>
        <p:spPr>
          <a:xfrm>
            <a:off x="5289906" y="2797532"/>
            <a:ext cx="114300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4288">
            <a:solidFill>
              <a:srgbClr val="14213D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MIXER</a:t>
            </a:r>
          </a:p>
        </p:txBody>
      </p:sp>
      <p:cxnSp>
        <p:nvCxnSpPr>
          <p:cNvPr id="48" name="Connector: Elbow 47"/>
          <p:cNvCxnSpPr>
            <a:cxnSpLocks/>
            <a:stCxn id="44" idx="3"/>
            <a:endCxn id="10" idx="1"/>
          </p:cNvCxnSpPr>
          <p:nvPr/>
        </p:nvCxnSpPr>
        <p:spPr>
          <a:xfrm flipV="1">
            <a:off x="4374780" y="3140432"/>
            <a:ext cx="915126" cy="973267"/>
          </a:xfrm>
          <a:prstGeom prst="bentConnector3">
            <a:avLst>
              <a:gd name="adj1" fmla="val 50000"/>
            </a:avLst>
          </a:prstGeom>
          <a:ln w="23813">
            <a:solidFill>
              <a:srgbClr val="F04E3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0" name="Connector: Elbow 49"/>
          <p:cNvCxnSpPr>
            <a:cxnSpLocks/>
            <a:stCxn id="43" idx="3"/>
            <a:endCxn id="10" idx="1"/>
          </p:cNvCxnSpPr>
          <p:nvPr/>
        </p:nvCxnSpPr>
        <p:spPr>
          <a:xfrm>
            <a:off x="4392315" y="2187191"/>
            <a:ext cx="897591" cy="953241"/>
          </a:xfrm>
          <a:prstGeom prst="bentConnector3">
            <a:avLst>
              <a:gd name="adj1" fmla="val 50000"/>
            </a:avLst>
          </a:prstGeom>
          <a:ln w="23813">
            <a:solidFill>
              <a:srgbClr val="1769D2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2" name="Straight Arrow Connector 51"/>
          <p:cNvCxnSpPr>
            <a:cxnSpLocks/>
            <a:stCxn id="10" idx="3"/>
            <a:endCxn id="21" idx="1"/>
          </p:cNvCxnSpPr>
          <p:nvPr/>
        </p:nvCxnSpPr>
        <p:spPr>
          <a:xfrm>
            <a:off x="6432906" y="3140432"/>
            <a:ext cx="587019" cy="0"/>
          </a:xfrm>
          <a:prstGeom prst="straightConnector1">
            <a:avLst/>
          </a:prstGeom>
          <a:ln w="23813">
            <a:solidFill>
              <a:srgbClr val="1769D2"/>
            </a:solidFill>
            <a:prstDash val="solid"/>
            <a:headEnd type="none" w="med" len="med"/>
            <a:tailEnd type="arrow" w="sm" len="sm"/>
          </a:ln>
        </p:spPr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A454AB1D-2DFD-4BE0-B2E7-09C76E408F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925" y="1544314"/>
            <a:ext cx="3724275" cy="3192235"/>
          </a:xfrm>
          <a:prstGeom prst="rect">
            <a:avLst/>
          </a:prstGeom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9C96FC2-E090-4775-8BD1-976669B32598}"/>
              </a:ext>
            </a:extLst>
          </p:cNvPr>
          <p:cNvSpPr>
            <a:spLocks noGrp="1"/>
          </p:cNvSpPr>
          <p:nvPr/>
        </p:nvSpPr>
        <p:spPr>
          <a:xfrm>
            <a:off x="1119187" y="5263243"/>
            <a:ext cx="4162425" cy="1108982"/>
          </a:xfrm>
          <a:prstGeom prst="roundRect">
            <a:avLst>
              <a:gd name="adj" fmla="val 9600"/>
            </a:avLst>
          </a:prstGeom>
          <a:solidFill>
            <a:srgbClr val="DDEBFA"/>
          </a:solidFill>
          <a:ln w="14288">
            <a:solidFill>
              <a:srgbClr val="1769D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E401336-E421-457A-A366-482EEA6FA32C}"/>
              </a:ext>
            </a:extLst>
          </p:cNvPr>
          <p:cNvSpPr>
            <a:spLocks noGrp="1"/>
          </p:cNvSpPr>
          <p:nvPr/>
        </p:nvSpPr>
        <p:spPr>
          <a:xfrm>
            <a:off x="1351054" y="5502610"/>
            <a:ext cx="3686719" cy="3903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2325" b="1" i="0">
                <a:solidFill>
                  <a:srgbClr val="1769D2"/>
                </a:solidFill>
                <a:latin typeface="DejaVu Serif"/>
                <a:ea typeface="DejaVu Serif"/>
                <a:cs typeface="DejaVu Serif"/>
              </a:defRPr>
            </a:pPr>
            <a:r>
              <a:rPr sz="2325" b="1" i="0" dirty="0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A²/2 · sin(</a:t>
            </a:r>
            <a:r>
              <a:rPr sz="2325" b="1" i="0" dirty="0" err="1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φD</a:t>
            </a:r>
            <a:r>
              <a:rPr sz="2325" b="1" i="0" dirty="0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 − </a:t>
            </a:r>
            <a:r>
              <a:rPr sz="2325" b="1" i="0" dirty="0" err="1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φR</a:t>
            </a:r>
            <a:r>
              <a:rPr sz="2325" b="1" i="0" dirty="0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1EE89E-218C-4D39-97B4-40ADC6AE24F8}"/>
              </a:ext>
            </a:extLst>
          </p:cNvPr>
          <p:cNvSpPr>
            <a:spLocks noGrp="1"/>
          </p:cNvSpPr>
          <p:nvPr/>
        </p:nvSpPr>
        <p:spPr>
          <a:xfrm>
            <a:off x="1370648" y="5991161"/>
            <a:ext cx="3607435" cy="212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i="0" dirty="0" err="1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taban</a:t>
            </a:r>
            <a:r>
              <a:rPr sz="1200" b="0" i="0" dirty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200" b="0" i="0" dirty="0" err="1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bant</a:t>
            </a:r>
            <a:r>
              <a:rPr sz="1200" b="0" i="0" dirty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 — </a:t>
            </a:r>
            <a:r>
              <a:rPr sz="1200" b="0" i="0" dirty="0" err="1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ölçmek</a:t>
            </a:r>
            <a:r>
              <a:rPr sz="1200" b="0" i="0" dirty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200" b="0" i="0" dirty="0" err="1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istediğimiz</a:t>
            </a:r>
            <a:r>
              <a:rPr sz="1200" b="0" i="0" dirty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200" b="0" i="0" dirty="0" err="1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faz</a:t>
            </a:r>
            <a:r>
              <a:rPr sz="1200" b="0" i="0" dirty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200" b="0" i="0" dirty="0" err="1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farkı</a:t>
            </a:r>
            <a:endParaRPr sz="1200" b="0" i="0" dirty="0">
              <a:solidFill>
                <a:srgbClr val="33415C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7A348F6-2C59-4864-8390-A59879D12EE3}"/>
              </a:ext>
            </a:extLst>
          </p:cNvPr>
          <p:cNvSpPr>
            <a:spLocks noGrp="1"/>
          </p:cNvSpPr>
          <p:nvPr/>
        </p:nvSpPr>
        <p:spPr>
          <a:xfrm>
            <a:off x="6157912" y="5263243"/>
            <a:ext cx="4457700" cy="1131775"/>
          </a:xfrm>
          <a:prstGeom prst="roundRect">
            <a:avLst>
              <a:gd name="adj" fmla="val 9600"/>
            </a:avLst>
          </a:prstGeom>
          <a:solidFill>
            <a:srgbClr val="FADDD7"/>
          </a:solidFill>
          <a:ln w="14288">
            <a:solidFill>
              <a:srgbClr val="F04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203D01-7EBA-4536-9CB4-5D4D3CDA4F0F}"/>
              </a:ext>
            </a:extLst>
          </p:cNvPr>
          <p:cNvSpPr>
            <a:spLocks noGrp="1"/>
          </p:cNvSpPr>
          <p:nvPr/>
        </p:nvSpPr>
        <p:spPr>
          <a:xfrm>
            <a:off x="6443661" y="5491807"/>
            <a:ext cx="3948249" cy="398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2175" b="1" i="0">
                <a:solidFill>
                  <a:srgbClr val="F04E35"/>
                </a:solidFill>
                <a:latin typeface="DejaVu Serif"/>
                <a:ea typeface="DejaVu Serif"/>
                <a:cs typeface="DejaVu Serif"/>
              </a:defRPr>
            </a:pPr>
            <a:r>
              <a:rPr sz="2175" b="1" i="0" dirty="0">
                <a:solidFill>
                  <a:srgbClr val="F04E35"/>
                </a:solidFill>
                <a:latin typeface="DejaVu Serif"/>
                <a:ea typeface="DejaVu Serif"/>
                <a:cs typeface="DejaVu Serif"/>
              </a:rPr>
              <a:t>−A²/2 · sin(2ω₀t + …)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E020E8-6822-40A1-9893-89A4E591AC26}"/>
              </a:ext>
            </a:extLst>
          </p:cNvPr>
          <p:cNvSpPr>
            <a:spLocks noGrp="1"/>
          </p:cNvSpPr>
          <p:nvPr/>
        </p:nvSpPr>
        <p:spPr>
          <a:xfrm>
            <a:off x="6455092" y="5977691"/>
            <a:ext cx="3863340" cy="2173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i="0" dirty="0" err="1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toplam</a:t>
            </a:r>
            <a:r>
              <a:rPr sz="1200" b="0" i="0" dirty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200" b="0" i="0" dirty="0" err="1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frekans</a:t>
            </a:r>
            <a:r>
              <a:rPr sz="1200" b="0" i="0" dirty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 — LPF </a:t>
            </a:r>
            <a:r>
              <a:rPr sz="1200" b="0" i="0" dirty="0" err="1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tarafından</a:t>
            </a:r>
            <a:r>
              <a:rPr sz="1200" b="0" i="0" dirty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200" b="0" i="0" dirty="0" err="1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bastırılır</a:t>
            </a:r>
            <a:endParaRPr sz="1200" b="0" i="0" dirty="0">
              <a:solidFill>
                <a:srgbClr val="33415C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48548D-9769-4D27-B7E0-C4F0E9ABFED4}"/>
              </a:ext>
            </a:extLst>
          </p:cNvPr>
          <p:cNvSpPr txBox="1"/>
          <p:nvPr/>
        </p:nvSpPr>
        <p:spPr>
          <a:xfrm>
            <a:off x="9520094" y="4497915"/>
            <a:ext cx="57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200" b="1" dirty="0">
                <a:solidFill>
                  <a:srgbClr val="FF0000"/>
                </a:solidFill>
              </a:rPr>
              <a:t>2f0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9972443-0DF7-42A1-9FC5-B41784FDEC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837" y="1330700"/>
            <a:ext cx="1998478" cy="171298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7CC5E38-5382-41AC-BD04-1A049681BD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079" y="3255399"/>
            <a:ext cx="2002701" cy="1716600"/>
          </a:xfrm>
          <a:prstGeom prst="rect">
            <a:avLst/>
          </a:prstGeom>
        </p:spPr>
      </p:pic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B18475A0-0A31-4309-8D1B-E5315AF04E7C}"/>
              </a:ext>
            </a:extLst>
          </p:cNvPr>
          <p:cNvSpPr>
            <a:spLocks noGrp="1"/>
          </p:cNvSpPr>
          <p:nvPr/>
        </p:nvSpPr>
        <p:spPr>
          <a:xfrm>
            <a:off x="933515" y="1830003"/>
            <a:ext cx="1190625" cy="714373"/>
          </a:xfrm>
          <a:prstGeom prst="roundRect">
            <a:avLst>
              <a:gd name="adj" fmla="val 10000"/>
            </a:avLst>
          </a:prstGeom>
          <a:solidFill>
            <a:srgbClr val="FADDD7"/>
          </a:solidFill>
          <a:ln w="14288">
            <a:solidFill>
              <a:srgbClr val="F04E35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DUT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83C6FC3-4BE7-4FB6-8E9A-5497F6BF661D}"/>
              </a:ext>
            </a:extLst>
          </p:cNvPr>
          <p:cNvSpPr>
            <a:spLocks noGrp="1"/>
          </p:cNvSpPr>
          <p:nvPr/>
        </p:nvSpPr>
        <p:spPr>
          <a:xfrm>
            <a:off x="981140" y="3751749"/>
            <a:ext cx="1143000" cy="723900"/>
          </a:xfrm>
          <a:prstGeom prst="roundRect">
            <a:avLst>
              <a:gd name="adj" fmla="val 13158"/>
            </a:avLst>
          </a:prstGeom>
          <a:solidFill>
            <a:srgbClr val="DDEBFA"/>
          </a:solidFill>
          <a:ln w="14288">
            <a:solidFill>
              <a:srgbClr val="1769D2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Ref 1</a:t>
            </a:r>
          </a:p>
          <a:p>
            <a:pPr algn="ctr">
              <a:lnSpc>
                <a:spcPct val="100000"/>
              </a:lnSpc>
              <a:buNone/>
              <a:defRPr sz="1350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+90°</a:t>
            </a:r>
          </a:p>
        </p:txBody>
      </p:sp>
    </p:spTree>
    <p:extLst>
      <p:ext uri="{BB962C8B-B14F-4D97-AF65-F5344CB8AC3E}">
        <p14:creationId xmlns:p14="http://schemas.microsoft.com/office/powerpoint/2010/main" val="3117844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331469A-6793-4559-98FE-3CF06A3768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0F1452-51E2-40F2-8778-84385C9229CF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r-TR" sz="1125" b="1" dirty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ADIM ADIM ANALİZ SÜRECİ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DEE73-BB28-4236-97DE-DEB2958F23BF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lang="tr-TR" sz="34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LPF yüksek frekansı bastırır</a:t>
            </a:r>
            <a:endParaRPr sz="3450" b="1" i="0" dirty="0">
              <a:solidFill>
                <a:srgbClr val="14213D"/>
              </a:solidFill>
              <a:latin typeface="DejaVu Sans Condensed"/>
              <a:ea typeface="DejaVu Sans Condensed"/>
              <a:cs typeface="DejaVu Sans Condense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931C19-C244-4878-8325-BB0C19F88BEB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 lang="tr-TR" sz="1275" b="1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6</a:t>
            </a:r>
            <a:endParaRPr sz="1275" b="1" i="0" dirty="0">
              <a:solidFill>
                <a:srgbClr val="6B728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B013650-76A5-48B1-9C9A-9CBD5C2978F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0D63B-E62C-4A86-BC32-ED4B747091B9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454AB1D-2DFD-4BE0-B2E7-09C76E408F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31" y="2059532"/>
            <a:ext cx="3258938" cy="279337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D48548D-9769-4D27-B7E0-C4F0E9ABFED4}"/>
              </a:ext>
            </a:extLst>
          </p:cNvPr>
          <p:cNvSpPr txBox="1"/>
          <p:nvPr/>
        </p:nvSpPr>
        <p:spPr>
          <a:xfrm>
            <a:off x="2817396" y="4616696"/>
            <a:ext cx="4163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000" b="1" dirty="0">
                <a:solidFill>
                  <a:srgbClr val="FF0000"/>
                </a:solidFill>
              </a:rPr>
              <a:t>2f0</a:t>
            </a:r>
            <a:endParaRPr lang="tr-TR" sz="1200" b="1" dirty="0">
              <a:solidFill>
                <a:srgbClr val="FF0000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F7E1391-329F-4D16-9959-D003DAD0C73C}"/>
              </a:ext>
            </a:extLst>
          </p:cNvPr>
          <p:cNvSpPr>
            <a:spLocks noGrp="1"/>
          </p:cNvSpPr>
          <p:nvPr/>
        </p:nvSpPr>
        <p:spPr>
          <a:xfrm>
            <a:off x="4411488" y="3113319"/>
            <a:ext cx="1238250" cy="685800"/>
          </a:xfrm>
          <a:prstGeom prst="roundRect">
            <a:avLst>
              <a:gd name="adj" fmla="val 13889"/>
            </a:avLst>
          </a:prstGeom>
          <a:solidFill>
            <a:srgbClr val="ECE5D8"/>
          </a:solidFill>
          <a:ln w="14288">
            <a:solidFill>
              <a:srgbClr val="14213D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LPF</a:t>
            </a:r>
          </a:p>
          <a:p>
            <a:pPr algn="ctr">
              <a:lnSpc>
                <a:spcPct val="100000"/>
              </a:lnSpc>
              <a:buNone/>
              <a:defRPr sz="1275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4. derece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DE14F88-65CA-4F80-BEFF-C9A0D1DFA0CE}"/>
              </a:ext>
            </a:extLst>
          </p:cNvPr>
          <p:cNvSpPr>
            <a:spLocks noGrp="1"/>
          </p:cNvSpPr>
          <p:nvPr/>
        </p:nvSpPr>
        <p:spPr>
          <a:xfrm>
            <a:off x="6221238" y="3113319"/>
            <a:ext cx="1381125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4288">
            <a:solidFill>
              <a:srgbClr val="F04E35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÷</a:t>
            </a:r>
            <a:r>
              <a:rPr sz="1275" b="1" dirty="0" err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Kpd</a:t>
            </a:r>
            <a:endParaRPr sz="1275" b="1" dirty="0">
              <a:solidFill>
                <a:srgbClr val="14213D"/>
              </a:solidFill>
              <a:latin typeface="DejaVu Sans"/>
              <a:ea typeface="DejaVu Sans"/>
              <a:cs typeface="DejaVu Sans"/>
            </a:endParaRPr>
          </a:p>
          <a:p>
            <a:pPr algn="ctr">
              <a:lnSpc>
                <a:spcPct val="100000"/>
              </a:lnSpc>
              <a:buNone/>
              <a:defRPr sz="1275" b="1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275" b="1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a</a:t>
            </a:r>
            <a:r>
              <a:rPr sz="1275" b="1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sin</a:t>
            </a:r>
            <a:r>
              <a:rPr lang="tr-TR" sz="1275" b="1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()</a:t>
            </a:r>
            <a:endParaRPr sz="1275" b="1" dirty="0">
              <a:solidFill>
                <a:srgbClr val="14213D"/>
              </a:solidFill>
              <a:latin typeface="DejaVu Sans"/>
              <a:ea typeface="DejaVu Sans"/>
              <a:cs typeface="DejaVu Sans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1C6FCF0-99E3-4666-8951-59537A9E3266}"/>
              </a:ext>
            </a:extLst>
          </p:cNvPr>
          <p:cNvCxnSpPr>
            <a:endCxn id="23" idx="1"/>
          </p:cNvCxnSpPr>
          <p:nvPr/>
        </p:nvCxnSpPr>
        <p:spPr>
          <a:xfrm>
            <a:off x="3839988" y="3456219"/>
            <a:ext cx="571500" cy="0"/>
          </a:xfrm>
          <a:prstGeom prst="straightConnector1">
            <a:avLst/>
          </a:prstGeom>
          <a:ln w="23813">
            <a:solidFill>
              <a:srgbClr val="1769D2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2DE2E3E-6163-4268-8ED9-A54A39E3D9BB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5649738" y="3456219"/>
            <a:ext cx="571500" cy="0"/>
          </a:xfrm>
          <a:prstGeom prst="straightConnector1">
            <a:avLst/>
          </a:prstGeom>
          <a:ln w="23813">
            <a:solidFill>
              <a:srgbClr val="1769D2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2CDABD1-33B1-4DD6-B4E9-25EF50F2A99E}"/>
              </a:ext>
            </a:extLst>
          </p:cNvPr>
          <p:cNvCxnSpPr/>
          <p:nvPr/>
        </p:nvCxnSpPr>
        <p:spPr>
          <a:xfrm>
            <a:off x="7602363" y="3456219"/>
            <a:ext cx="571500" cy="0"/>
          </a:xfrm>
          <a:prstGeom prst="straightConnector1">
            <a:avLst/>
          </a:prstGeom>
          <a:ln w="23813">
            <a:solidFill>
              <a:srgbClr val="1769D2"/>
            </a:solidFill>
            <a:prstDash val="solid"/>
            <a:headEnd type="none" w="med" len="med"/>
            <a:tailEnd type="arrow" w="sm" len="sm"/>
          </a:ln>
        </p:spPr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EF2EAE8-765C-492D-A64B-DCB21F0154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863" y="2059531"/>
            <a:ext cx="3258938" cy="279337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C6796B7-4AD9-42F3-974C-92FAD243C23D}"/>
              </a:ext>
            </a:extLst>
          </p:cNvPr>
          <p:cNvSpPr txBox="1"/>
          <p:nvPr/>
        </p:nvSpPr>
        <p:spPr>
          <a:xfrm>
            <a:off x="10401537" y="4640582"/>
            <a:ext cx="4163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000" b="1" dirty="0">
                <a:solidFill>
                  <a:srgbClr val="FF0000"/>
                </a:solidFill>
              </a:rPr>
              <a:t>2f0</a:t>
            </a:r>
            <a:endParaRPr lang="tr-TR" sz="1200" b="1" dirty="0">
              <a:solidFill>
                <a:srgbClr val="FF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BD3715-8692-4546-94C5-0B6DB7F321A0}"/>
              </a:ext>
            </a:extLst>
          </p:cNvPr>
          <p:cNvSpPr>
            <a:spLocks noGrp="1"/>
          </p:cNvSpPr>
          <p:nvPr/>
        </p:nvSpPr>
        <p:spPr>
          <a:xfrm>
            <a:off x="1452282" y="5349631"/>
            <a:ext cx="9525280" cy="6804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defRPr sz="16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650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LPF sonrası elimizde </a:t>
            </a:r>
            <a:r>
              <a:rPr lang="tr-TR" b="1" dirty="0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A²/2 · sin(</a:t>
            </a:r>
            <a:r>
              <a:rPr lang="el-GR" b="1" dirty="0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φ</a:t>
            </a:r>
            <a:r>
              <a:rPr lang="tr-TR" b="1" dirty="0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D − </a:t>
            </a:r>
            <a:r>
              <a:rPr lang="el-GR" b="1" dirty="0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φ</a:t>
            </a:r>
            <a:r>
              <a:rPr lang="tr-TR" b="1" dirty="0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R) </a:t>
            </a:r>
            <a:r>
              <a:rPr lang="tr-TR" sz="1650" b="1" dirty="0">
                <a:solidFill>
                  <a:srgbClr val="33415C"/>
                </a:solidFill>
                <a:latin typeface="DejaVu Sans"/>
              </a:rPr>
              <a:t>kalır, ardından </a:t>
            </a:r>
            <a:r>
              <a:rPr lang="tr-TR" sz="1650" b="1" dirty="0" err="1">
                <a:solidFill>
                  <a:srgbClr val="33415C"/>
                </a:solidFill>
                <a:latin typeface="DejaVu Sans"/>
              </a:rPr>
              <a:t>Kpd</a:t>
            </a:r>
            <a:r>
              <a:rPr lang="tr-TR" sz="1650" b="1" dirty="0">
                <a:solidFill>
                  <a:srgbClr val="33415C"/>
                </a:solidFill>
                <a:latin typeface="DejaVu Sans"/>
              </a:rPr>
              <a:t>=A²/2’ye bölünür ve</a:t>
            </a:r>
          </a:p>
          <a:p>
            <a:pPr algn="ctr">
              <a:lnSpc>
                <a:spcPct val="108000"/>
              </a:lnSpc>
              <a:defRPr sz="16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650" b="1" dirty="0">
                <a:solidFill>
                  <a:srgbClr val="33415C"/>
                </a:solidFill>
                <a:latin typeface="DejaVu Sans"/>
              </a:rPr>
              <a:t>asin() fonksiyonu ile </a:t>
            </a:r>
            <a:r>
              <a:rPr lang="el-GR" b="1" dirty="0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φ</a:t>
            </a:r>
            <a:r>
              <a:rPr lang="tr-TR" b="1" dirty="0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D − </a:t>
            </a:r>
            <a:r>
              <a:rPr lang="el-GR" b="1" dirty="0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φ</a:t>
            </a:r>
            <a:r>
              <a:rPr lang="tr-TR" b="1" dirty="0">
                <a:solidFill>
                  <a:srgbClr val="1769D2"/>
                </a:solidFill>
                <a:latin typeface="DejaVu Serif"/>
                <a:ea typeface="DejaVu Serif"/>
                <a:cs typeface="DejaVu Serif"/>
              </a:rPr>
              <a:t>R </a:t>
            </a:r>
            <a:r>
              <a:rPr lang="tr-TR" sz="1650" b="1" dirty="0">
                <a:solidFill>
                  <a:srgbClr val="33415C"/>
                </a:solidFill>
                <a:latin typeface="DejaVu Sans"/>
              </a:rPr>
              <a:t>elde edilir.</a:t>
            </a:r>
          </a:p>
        </p:txBody>
      </p:sp>
    </p:spTree>
    <p:extLst>
      <p:ext uri="{BB962C8B-B14F-4D97-AF65-F5344CB8AC3E}">
        <p14:creationId xmlns:p14="http://schemas.microsoft.com/office/powerpoint/2010/main" val="2397452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331469A-6793-4559-98FE-3CF06A3768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0F1452-51E2-40F2-8778-84385C9229CF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r-TR" sz="1125" b="1" dirty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ADIM ADIM ANALİZ SÜRECİ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DEE73-BB28-4236-97DE-DEB2958F23BF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lang="tr-TR" sz="34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Cross-PSD</a:t>
            </a:r>
            <a:endParaRPr sz="3450" b="1" i="0" dirty="0">
              <a:solidFill>
                <a:srgbClr val="14213D"/>
              </a:solidFill>
              <a:latin typeface="DejaVu Sans Condensed"/>
              <a:ea typeface="DejaVu Sans Condensed"/>
              <a:cs typeface="DejaVu Sans Condense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931C19-C244-4878-8325-BB0C19F88BEB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 lang="tr-TR" sz="1275" b="1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7</a:t>
            </a:r>
            <a:endParaRPr sz="1275" b="1" i="0" dirty="0">
              <a:solidFill>
                <a:srgbClr val="6B728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B013650-76A5-48B1-9C9A-9CBD5C2978F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0D63B-E62C-4A86-BC32-ED4B747091B9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F2EAE8-765C-492D-A64B-DCB21F015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476" y="1530789"/>
            <a:ext cx="2072688" cy="1776589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42BD3715-8692-4546-94C5-0B6DB7F321A0}"/>
              </a:ext>
            </a:extLst>
          </p:cNvPr>
          <p:cNvSpPr>
            <a:spLocks noGrp="1"/>
          </p:cNvSpPr>
          <p:nvPr/>
        </p:nvSpPr>
        <p:spPr>
          <a:xfrm>
            <a:off x="1452282" y="5803341"/>
            <a:ext cx="9525280" cy="6804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defRPr sz="16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650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Buraya kada</a:t>
            </a:r>
            <a:r>
              <a:rPr lang="tr-TR" sz="1650" b="1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r olan süreç iki kanalda da aynı şekilde ilerledikten sonra</a:t>
            </a:r>
          </a:p>
          <a:p>
            <a:pPr algn="ctr">
              <a:lnSpc>
                <a:spcPct val="108000"/>
              </a:lnSpc>
              <a:defRPr sz="16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650" b="1" dirty="0">
                <a:solidFill>
                  <a:srgbClr val="33415C"/>
                </a:solidFill>
                <a:latin typeface="DejaVu Sans"/>
              </a:rPr>
              <a:t>sonuçlar çarpılır ve ortaya DUT gürültüsü baskın bir sonuç çıkar.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90344AC-6AD6-4A15-A7CC-DC093C42AFC7}"/>
              </a:ext>
            </a:extLst>
          </p:cNvPr>
          <p:cNvSpPr>
            <a:spLocks noGrp="1"/>
          </p:cNvSpPr>
          <p:nvPr/>
        </p:nvSpPr>
        <p:spPr>
          <a:xfrm>
            <a:off x="4257114" y="2940987"/>
            <a:ext cx="1428750" cy="1047750"/>
          </a:xfrm>
          <a:prstGeom prst="roundRect">
            <a:avLst>
              <a:gd name="adj" fmla="val 9091"/>
            </a:avLst>
          </a:prstGeom>
          <a:solidFill>
            <a:srgbClr val="14213D"/>
          </a:solidFill>
          <a:ln w="14288">
            <a:solidFill>
              <a:srgbClr val="14213D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5F0E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5F0E6"/>
                </a:solidFill>
                <a:latin typeface="DejaVu Sans"/>
                <a:ea typeface="DejaVu Sans"/>
                <a:cs typeface="DejaVu Sans"/>
              </a:rPr>
              <a:t>FFT</a:t>
            </a:r>
          </a:p>
          <a:p>
            <a:pPr algn="ctr">
              <a:lnSpc>
                <a:spcPct val="100000"/>
              </a:lnSpc>
              <a:buNone/>
              <a:defRPr sz="1500" b="1">
                <a:solidFill>
                  <a:srgbClr val="F5F0E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5F0E6"/>
                </a:solidFill>
                <a:latin typeface="DejaVu Sans"/>
                <a:ea typeface="DejaVu Sans"/>
                <a:cs typeface="DejaVu Sans"/>
              </a:rPr>
              <a:t>X₁·X₂*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10DBED1-E136-4462-BFDF-455F75248D23}"/>
              </a:ext>
            </a:extLst>
          </p:cNvPr>
          <p:cNvCxnSpPr>
            <a:cxnSpLocks/>
            <a:stCxn id="11" idx="3"/>
            <a:endCxn id="18" idx="1"/>
          </p:cNvCxnSpPr>
          <p:nvPr/>
        </p:nvCxnSpPr>
        <p:spPr>
          <a:xfrm>
            <a:off x="3285164" y="2419084"/>
            <a:ext cx="971950" cy="1045778"/>
          </a:xfrm>
          <a:prstGeom prst="bentConnector3">
            <a:avLst>
              <a:gd name="adj1" fmla="val 50000"/>
            </a:avLst>
          </a:prstGeom>
          <a:ln w="23813">
            <a:solidFill>
              <a:srgbClr val="1769D2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95FB265-2573-4285-B802-A702DDB18AF7}"/>
              </a:ext>
            </a:extLst>
          </p:cNvPr>
          <p:cNvCxnSpPr>
            <a:cxnSpLocks/>
            <a:stCxn id="29" idx="3"/>
            <a:endCxn id="18" idx="1"/>
          </p:cNvCxnSpPr>
          <p:nvPr/>
        </p:nvCxnSpPr>
        <p:spPr>
          <a:xfrm flipV="1">
            <a:off x="3285164" y="3464862"/>
            <a:ext cx="971950" cy="1027426"/>
          </a:xfrm>
          <a:prstGeom prst="bentConnector3">
            <a:avLst>
              <a:gd name="adj1" fmla="val 50000"/>
            </a:avLst>
          </a:prstGeom>
          <a:ln w="23813">
            <a:solidFill>
              <a:srgbClr val="1E9B72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A6AF7EB-9704-4671-8197-9B318F7D414B}"/>
              </a:ext>
            </a:extLst>
          </p:cNvPr>
          <p:cNvCxnSpPr>
            <a:cxnSpLocks/>
            <a:stCxn id="18" idx="3"/>
            <a:endCxn id="8" idx="1"/>
          </p:cNvCxnSpPr>
          <p:nvPr/>
        </p:nvCxnSpPr>
        <p:spPr>
          <a:xfrm>
            <a:off x="5685864" y="3464862"/>
            <a:ext cx="837800" cy="0"/>
          </a:xfrm>
          <a:prstGeom prst="straightConnector1">
            <a:avLst/>
          </a:prstGeom>
          <a:ln w="23813">
            <a:solidFill>
              <a:srgbClr val="F04E35"/>
            </a:solidFill>
            <a:prstDash val="solid"/>
            <a:headEnd type="none" w="med" len="med"/>
            <a:tailEnd type="arrow" w="sm" len="sm"/>
          </a:ln>
        </p:spPr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BD74428A-50C5-4020-889A-6640754C1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476" y="3603993"/>
            <a:ext cx="2072688" cy="17765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8BDA14-3BE4-4623-80F1-B7E6EAF35C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664" y="1502007"/>
            <a:ext cx="4579994" cy="392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46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331469A-6793-4559-98FE-3CF06A3768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0F1452-51E2-40F2-8778-84385C9229CF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r-TR" sz="1125" b="1" dirty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ADIM ADIM ANALİZ SÜRECİ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DEE73-BB28-4236-97DE-DEB2958F23BF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lang="tr-TR" sz="345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İterasyon ile kompleks ortalama</a:t>
            </a:r>
            <a:endParaRPr sz="3450" b="1" i="0" dirty="0">
              <a:solidFill>
                <a:srgbClr val="14213D"/>
              </a:solidFill>
              <a:latin typeface="DejaVu Sans Condensed"/>
              <a:ea typeface="DejaVu Sans Condensed"/>
              <a:cs typeface="DejaVu Sans Condense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931C19-C244-4878-8325-BB0C19F88BEB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 lang="tr-TR" sz="1275" b="1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8</a:t>
            </a:r>
            <a:endParaRPr sz="1275" b="1" i="0" dirty="0">
              <a:solidFill>
                <a:srgbClr val="6B728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B013650-76A5-48B1-9C9A-9CBD5C2978F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0D63B-E62C-4A86-BC32-ED4B747091B9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BD3715-8692-4546-94C5-0B6DB7F321A0}"/>
              </a:ext>
            </a:extLst>
          </p:cNvPr>
          <p:cNvSpPr>
            <a:spLocks noGrp="1"/>
          </p:cNvSpPr>
          <p:nvPr/>
        </p:nvSpPr>
        <p:spPr>
          <a:xfrm>
            <a:off x="1452282" y="5803341"/>
            <a:ext cx="9525280" cy="6804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defRPr sz="16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650" b="1" dirty="0">
                <a:solidFill>
                  <a:srgbClr val="33415C"/>
                </a:solidFill>
                <a:latin typeface="DejaVu Sans"/>
              </a:rPr>
              <a:t>Bu işlemler tekrarladıkça, sonuçtaki DUT ortak olduğu için</a:t>
            </a:r>
          </a:p>
          <a:p>
            <a:pPr algn="ctr">
              <a:lnSpc>
                <a:spcPct val="108000"/>
              </a:lnSpc>
              <a:defRPr sz="16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650" b="1" dirty="0">
                <a:solidFill>
                  <a:srgbClr val="33415C"/>
                </a:solidFill>
                <a:latin typeface="DejaVu Sans"/>
              </a:rPr>
              <a:t>yapılan tekrarların ortalaması gerçek DUT değerine yakınsar.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A6AF7EB-9704-4671-8197-9B318F7D414B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5227494" y="3464862"/>
            <a:ext cx="1639570" cy="0"/>
          </a:xfrm>
          <a:prstGeom prst="straightConnector1">
            <a:avLst/>
          </a:prstGeom>
          <a:ln w="23813">
            <a:solidFill>
              <a:srgbClr val="F04E35"/>
            </a:solidFill>
            <a:prstDash val="solid"/>
            <a:headEnd type="none" w="med" len="med"/>
            <a:tailEnd type="arrow" w="sm" len="sm"/>
          </a:ln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78BDA14-3BE4-4623-80F1-B7E6EAF35C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00" y="1502007"/>
            <a:ext cx="4579994" cy="39257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F22B71-5EAF-435D-A7EA-4D97942947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064" y="1502007"/>
            <a:ext cx="4579994" cy="392570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836FA5F-D5C4-4486-AB62-D4CC38552BD3}"/>
              </a:ext>
            </a:extLst>
          </p:cNvPr>
          <p:cNvSpPr>
            <a:spLocks noGrp="1"/>
          </p:cNvSpPr>
          <p:nvPr/>
        </p:nvSpPr>
        <p:spPr>
          <a:xfrm>
            <a:off x="5491654" y="2829097"/>
            <a:ext cx="1111250" cy="5500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defRPr sz="16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650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50</a:t>
            </a:r>
          </a:p>
          <a:p>
            <a:pPr algn="ctr">
              <a:lnSpc>
                <a:spcPct val="108000"/>
              </a:lnSpc>
              <a:defRPr sz="16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650" b="1" dirty="0">
                <a:solidFill>
                  <a:srgbClr val="33415C"/>
                </a:solidFill>
                <a:latin typeface="DejaVu Sans"/>
              </a:rPr>
              <a:t>tekrar</a:t>
            </a:r>
          </a:p>
        </p:txBody>
      </p:sp>
    </p:spTree>
    <p:extLst>
      <p:ext uri="{BB962C8B-B14F-4D97-AF65-F5344CB8AC3E}">
        <p14:creationId xmlns:p14="http://schemas.microsoft.com/office/powerpoint/2010/main" val="3105240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0658380-81A3-45B4-9562-1ACC6DD2D7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6B389E-4A4B-4B9B-ABDC-F9668D24BEA5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CROSS-PSD MANTIĞI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4DBD23-5071-4051-96A9-907A2BA07EC5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Ortak Bileşen Neden Kalır?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5668C6-E5B7-46AB-8262-1D5875437F4A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r-TR" sz="1275" b="1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20</a:t>
            </a:r>
            <a:endParaRPr sz="1275" b="1" i="0" dirty="0">
              <a:solidFill>
                <a:srgbClr val="6B728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ED1206C-BDEC-4992-8E42-6FF6F4855F71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3247D8-E089-4865-A51A-BA062D721D80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CFCF48-FEEA-4D13-9263-E66F03AF41AA}"/>
              </a:ext>
            </a:extLst>
          </p:cNvPr>
          <p:cNvSpPr>
            <a:spLocks noGrp="1"/>
          </p:cNvSpPr>
          <p:nvPr/>
        </p:nvSpPr>
        <p:spPr>
          <a:xfrm>
            <a:off x="933450" y="2095500"/>
            <a:ext cx="4762500" cy="1238250"/>
          </a:xfrm>
          <a:prstGeom prst="roundRect">
            <a:avLst>
              <a:gd name="adj" fmla="val 10769"/>
            </a:avLst>
          </a:prstGeom>
          <a:solidFill>
            <a:srgbClr val="DDEBFA"/>
          </a:solidFill>
          <a:ln w="14288">
            <a:solidFill>
              <a:srgbClr val="1769D2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98A7FF-67C4-4728-B0A3-4B1A2955041F}"/>
              </a:ext>
            </a:extLst>
          </p:cNvPr>
          <p:cNvSpPr>
            <a:spLocks noGrp="1"/>
          </p:cNvSpPr>
          <p:nvPr/>
        </p:nvSpPr>
        <p:spPr>
          <a:xfrm>
            <a:off x="933450" y="3714750"/>
            <a:ext cx="4762500" cy="1238250"/>
          </a:xfrm>
          <a:prstGeom prst="roundRect">
            <a:avLst>
              <a:gd name="adj" fmla="val 10769"/>
            </a:avLst>
          </a:prstGeom>
          <a:solidFill>
            <a:srgbClr val="BDE8D5"/>
          </a:solidFill>
          <a:ln w="14288">
            <a:solidFill>
              <a:srgbClr val="1E9B7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EAB29D-4DAD-4F47-8187-BC5235ADAB36}"/>
              </a:ext>
            </a:extLst>
          </p:cNvPr>
          <p:cNvSpPr>
            <a:spLocks noGrp="1"/>
          </p:cNvSpPr>
          <p:nvPr/>
        </p:nvSpPr>
        <p:spPr>
          <a:xfrm>
            <a:off x="1276350" y="2505075"/>
            <a:ext cx="409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2325">
                <a:solidFill>
                  <a:srgbClr val="14213D"/>
                </a:solidFill>
                <a:latin typeface="DejaVu Serif"/>
                <a:ea typeface="DejaVu Serif"/>
                <a:cs typeface="DejaVu Serif"/>
              </a:defRPr>
            </a:pPr>
            <a:r>
              <a:rPr sz="2325" b="1">
                <a:solidFill>
                  <a:srgbClr val="14213D"/>
                </a:solidFill>
                <a:latin typeface="DejaVu Serif"/>
                <a:ea typeface="DejaVu Serif"/>
                <a:cs typeface="DejaVu Serif"/>
              </a:rPr>
              <a:t>y₁(t) = φD(t) − φR1(t)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0A7296-21B6-45A1-B6E0-2866C85F25DC}"/>
              </a:ext>
            </a:extLst>
          </p:cNvPr>
          <p:cNvSpPr>
            <a:spLocks noGrp="1"/>
          </p:cNvSpPr>
          <p:nvPr/>
        </p:nvSpPr>
        <p:spPr>
          <a:xfrm>
            <a:off x="1276350" y="4124325"/>
            <a:ext cx="409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2325">
                <a:solidFill>
                  <a:srgbClr val="14213D"/>
                </a:solidFill>
                <a:latin typeface="DejaVu Serif"/>
                <a:ea typeface="DejaVu Serif"/>
                <a:cs typeface="DejaVu Serif"/>
              </a:defRPr>
            </a:pPr>
            <a:r>
              <a:rPr sz="2325" b="1">
                <a:solidFill>
                  <a:srgbClr val="14213D"/>
                </a:solidFill>
                <a:latin typeface="DejaVu Serif"/>
                <a:ea typeface="DejaVu Serif"/>
                <a:cs typeface="DejaVu Serif"/>
              </a:rPr>
              <a:t>y₂(t) = φD(t) − φR2(t)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C172AA-C4DE-40A3-9A88-FF28D579FB67}"/>
              </a:ext>
            </a:extLst>
          </p:cNvPr>
          <p:cNvSpPr>
            <a:spLocks noGrp="1"/>
          </p:cNvSpPr>
          <p:nvPr/>
        </p:nvSpPr>
        <p:spPr>
          <a:xfrm>
            <a:off x="6010275" y="3057525"/>
            <a:ext cx="95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540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5400" b="1" i="0" dirty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B2C2016-8BF7-43D0-8BDE-906FA269A5D2}"/>
              </a:ext>
            </a:extLst>
          </p:cNvPr>
          <p:cNvSpPr>
            <a:spLocks noGrp="1"/>
          </p:cNvSpPr>
          <p:nvPr/>
        </p:nvSpPr>
        <p:spPr>
          <a:xfrm>
            <a:off x="7248525" y="2047875"/>
            <a:ext cx="4381500" cy="2905125"/>
          </a:xfrm>
          <a:prstGeom prst="roundRect">
            <a:avLst>
              <a:gd name="adj" fmla="val 5902"/>
            </a:avLst>
          </a:prstGeom>
          <a:solidFill>
            <a:srgbClr val="14213D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7645C9-D6A1-4041-A31A-9BC8A76E9231}"/>
              </a:ext>
            </a:extLst>
          </p:cNvPr>
          <p:cNvSpPr>
            <a:spLocks noGrp="1"/>
          </p:cNvSpPr>
          <p:nvPr/>
        </p:nvSpPr>
        <p:spPr>
          <a:xfrm>
            <a:off x="7629525" y="2476500"/>
            <a:ext cx="3619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2550" b="1" i="0">
                <a:solidFill>
                  <a:srgbClr val="F5F0E6"/>
                </a:solidFill>
                <a:latin typeface="DejaVu Serif"/>
                <a:ea typeface="DejaVu Serif"/>
                <a:cs typeface="DejaVu Serif"/>
              </a:defRPr>
            </a:pPr>
            <a:r>
              <a:rPr sz="2550" b="1" i="0" dirty="0">
                <a:solidFill>
                  <a:srgbClr val="F5F0E6"/>
                </a:solidFill>
                <a:latin typeface="DejaVu Serif"/>
                <a:ea typeface="DejaVu Serif"/>
                <a:cs typeface="DejaVu Serif"/>
              </a:rPr>
              <a:t>S₁₂(f) = E{Y₁Y₂*}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2B57A5-DE8E-4D47-BED4-0779846E92E7}"/>
              </a:ext>
            </a:extLst>
          </p:cNvPr>
          <p:cNvSpPr>
            <a:spLocks noGrp="1"/>
          </p:cNvSpPr>
          <p:nvPr/>
        </p:nvSpPr>
        <p:spPr>
          <a:xfrm>
            <a:off x="7724775" y="336232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75" b="0" i="0">
                <a:solidFill>
                  <a:srgbClr val="8BB9F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 i="0" dirty="0" err="1">
                <a:solidFill>
                  <a:srgbClr val="8BB9F0"/>
                </a:solidFill>
                <a:latin typeface="DejaVu Sans Mono"/>
                <a:ea typeface="DejaVu Sans Mono"/>
                <a:cs typeface="DejaVu Sans Mono"/>
              </a:rPr>
              <a:t>bağımsız</a:t>
            </a:r>
            <a:r>
              <a:rPr sz="1575" b="0" i="0" dirty="0">
                <a:solidFill>
                  <a:srgbClr val="8BB9F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 b="0" i="0" dirty="0" err="1">
                <a:solidFill>
                  <a:srgbClr val="8BB9F0"/>
                </a:solidFill>
                <a:latin typeface="DejaVu Sans Mono"/>
                <a:ea typeface="DejaVu Sans Mono"/>
                <a:cs typeface="DejaVu Sans Mono"/>
              </a:rPr>
              <a:t>çapraz</a:t>
            </a:r>
            <a:r>
              <a:rPr sz="1575" b="0" i="0" dirty="0">
                <a:solidFill>
                  <a:srgbClr val="8BB9F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 b="0" i="0" dirty="0" err="1">
                <a:solidFill>
                  <a:srgbClr val="8BB9F0"/>
                </a:solidFill>
                <a:latin typeface="DejaVu Sans Mono"/>
                <a:ea typeface="DejaVu Sans Mono"/>
                <a:cs typeface="DejaVu Sans Mono"/>
              </a:rPr>
              <a:t>terimler</a:t>
            </a:r>
            <a:r>
              <a:rPr sz="1575" b="0" i="0" dirty="0">
                <a:solidFill>
                  <a:srgbClr val="8BB9F0"/>
                </a:solidFill>
                <a:latin typeface="DejaVu Sans Mono"/>
                <a:ea typeface="DejaVu Sans Mono"/>
                <a:cs typeface="DejaVu Sans Mono"/>
              </a:rPr>
              <a:t> → 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A5BE4E-4F6D-4ABD-A5A9-991B8E7C6F2E}"/>
              </a:ext>
            </a:extLst>
          </p:cNvPr>
          <p:cNvSpPr>
            <a:spLocks noGrp="1"/>
          </p:cNvSpPr>
          <p:nvPr/>
        </p:nvSpPr>
        <p:spPr>
          <a:xfrm>
            <a:off x="7772400" y="4029075"/>
            <a:ext cx="333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2850" b="1" i="0">
                <a:solidFill>
                  <a:srgbClr val="D8F15A"/>
                </a:solidFill>
                <a:latin typeface="DejaVu Serif"/>
                <a:ea typeface="DejaVu Serif"/>
                <a:cs typeface="DejaVu Serif"/>
              </a:defRPr>
            </a:pPr>
            <a:r>
              <a:rPr sz="2850" b="1" i="0">
                <a:solidFill>
                  <a:srgbClr val="D8F15A"/>
                </a:solidFill>
                <a:latin typeface="DejaVu Serif"/>
                <a:ea typeface="DejaVu Serif"/>
                <a:cs typeface="DejaVu Serif"/>
              </a:rPr>
              <a:t>S₁₂(f) → SD(f)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F45FD7-4AAC-46C1-90B6-55F43FC9C9F7}"/>
              </a:ext>
            </a:extLst>
          </p:cNvPr>
          <p:cNvSpPr>
            <a:spLocks noGrp="1"/>
          </p:cNvSpPr>
          <p:nvPr/>
        </p:nvSpPr>
        <p:spPr>
          <a:xfrm>
            <a:off x="3095625" y="593407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İterasyon arttıkça referans artığı küçülür.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16610F-C094-4F2B-8C82-66722A1323A0}"/>
                  </a:ext>
                </a:extLst>
              </p:cNvPr>
              <p:cNvSpPr txBox="1"/>
              <p:nvPr/>
            </p:nvSpPr>
            <p:spPr>
              <a:xfrm>
                <a:off x="2884339" y="5309413"/>
                <a:ext cx="3474606" cy="283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tr-T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tr-TR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tr-TR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tr-TR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𝐷</m:t>
                      </m:r>
                      <m:sSubSup>
                        <m:sSubSup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tr-TR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16610F-C094-4F2B-8C82-66722A132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339" y="5309413"/>
                <a:ext cx="3474606" cy="283411"/>
              </a:xfrm>
              <a:prstGeom prst="rect">
                <a:avLst/>
              </a:prstGeom>
              <a:blipFill>
                <a:blip r:embed="rId3"/>
                <a:stretch>
                  <a:fillRect l="-1053" t="-4348" r="-175" b="-3478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9A7C4976-1CD7-4ED5-AEBE-B133EF1EF045}"/>
              </a:ext>
            </a:extLst>
          </p:cNvPr>
          <p:cNvSpPr/>
          <p:nvPr/>
        </p:nvSpPr>
        <p:spPr>
          <a:xfrm>
            <a:off x="4107406" y="5219700"/>
            <a:ext cx="2333625" cy="485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1ADDB5-E1DA-44C1-B92F-30ADD3342A62}"/>
              </a:ext>
            </a:extLst>
          </p:cNvPr>
          <p:cNvSpPr>
            <a:spLocks noGrp="1"/>
          </p:cNvSpPr>
          <p:nvPr/>
        </p:nvSpPr>
        <p:spPr>
          <a:xfrm>
            <a:off x="6379118" y="4967287"/>
            <a:ext cx="95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540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5400" b="1" i="0" dirty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rPr>
              <a:t>→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796C84-D9D9-4094-A3AD-39B5159DF7D3}"/>
              </a:ext>
            </a:extLst>
          </p:cNvPr>
          <p:cNvSpPr txBox="1"/>
          <p:nvPr/>
        </p:nvSpPr>
        <p:spPr>
          <a:xfrm>
            <a:off x="7179119" y="5266452"/>
            <a:ext cx="2107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rgbClr val="FF0000"/>
                </a:solidFill>
              </a:rPr>
              <a:t>Bağımsız referanslar</a:t>
            </a:r>
          </a:p>
        </p:txBody>
      </p:sp>
    </p:spTree>
    <p:extLst>
      <p:ext uri="{BB962C8B-B14F-4D97-AF65-F5344CB8AC3E}">
        <p14:creationId xmlns:p14="http://schemas.microsoft.com/office/powerpoint/2010/main" val="70210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D96FC67-6421-43EB-B124-9D4B6FF6A8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0197CE-4035-4513-8D88-33435BF3FB3F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KOD YAPISI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9E6584-71AA-494A-BA1D-D611FC3FAC76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Modelin Fonksiyon Akışı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D68F02-FEF3-4154-A4B6-D621717E193F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r-TR" sz="1275" b="1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21</a:t>
            </a:r>
            <a:endParaRPr sz="1275" b="1" i="0" dirty="0">
              <a:solidFill>
                <a:srgbClr val="6B728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D711FA96-A498-49D4-9EA3-55EC51A1261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68EB3-3804-4916-9593-60EAA5C48164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9D37F94-E5BC-4FD7-B0F7-04BE2F71674D}"/>
              </a:ext>
            </a:extLst>
          </p:cNvPr>
          <p:cNvSpPr>
            <a:spLocks noGrp="1"/>
          </p:cNvSpPr>
          <p:nvPr/>
        </p:nvSpPr>
        <p:spPr>
          <a:xfrm>
            <a:off x="1694890" y="1918867"/>
            <a:ext cx="2476500" cy="876300"/>
          </a:xfrm>
          <a:prstGeom prst="roundRect">
            <a:avLst>
              <a:gd name="adj" fmla="val 10870"/>
            </a:avLst>
          </a:prstGeom>
          <a:solidFill>
            <a:srgbClr val="DDEBFA"/>
          </a:solidFill>
          <a:ln w="14288">
            <a:solidFill>
              <a:srgbClr val="1769D2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run_comparisons.m</a:t>
            </a:r>
          </a:p>
          <a:p>
            <a:pPr algn="ctr">
              <a:lnSpc>
                <a:spcPct val="100000"/>
              </a:lnSpc>
              <a:buNone/>
              <a:defRPr sz="1275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config + sweep listeleri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93168B-A2B7-4C7A-807B-8F06066F1FE7}"/>
              </a:ext>
            </a:extLst>
          </p:cNvPr>
          <p:cNvSpPr>
            <a:spLocks noGrp="1"/>
          </p:cNvSpPr>
          <p:nvPr/>
        </p:nvSpPr>
        <p:spPr>
          <a:xfrm>
            <a:off x="4647640" y="1918867"/>
            <a:ext cx="2619375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4288">
            <a:solidFill>
              <a:srgbClr val="14213D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run_comparisons_main.m</a:t>
            </a:r>
          </a:p>
          <a:p>
            <a:pPr algn="ctr">
              <a:lnSpc>
                <a:spcPct val="100000"/>
              </a:lnSpc>
              <a:buNone/>
              <a:defRPr sz="1275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her değer bağımsız koşu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C408F4-86BE-405F-8928-F2464C668D99}"/>
              </a:ext>
            </a:extLst>
          </p:cNvPr>
          <p:cNvSpPr>
            <a:spLocks noGrp="1"/>
          </p:cNvSpPr>
          <p:nvPr/>
        </p:nvSpPr>
        <p:spPr>
          <a:xfrm>
            <a:off x="7743265" y="1918867"/>
            <a:ext cx="2428875" cy="876300"/>
          </a:xfrm>
          <a:prstGeom prst="roundRect">
            <a:avLst>
              <a:gd name="adj" fmla="val 10870"/>
            </a:avLst>
          </a:prstGeom>
          <a:solidFill>
            <a:srgbClr val="FADDD7"/>
          </a:solidFill>
          <a:ln w="14288">
            <a:solidFill>
              <a:srgbClr val="F04E35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run_simulation.m</a:t>
            </a:r>
          </a:p>
          <a:p>
            <a:pPr algn="ctr">
              <a:lnSpc>
                <a:spcPct val="100000"/>
              </a:lnSpc>
              <a:buNone/>
              <a:defRPr sz="1275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K Monte Carlo iterasyonu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88F1DC9-A736-4659-82F7-D4FE85A3C686}"/>
              </a:ext>
            </a:extLst>
          </p:cNvPr>
          <p:cNvSpPr>
            <a:spLocks noGrp="1"/>
          </p:cNvSpPr>
          <p:nvPr/>
        </p:nvSpPr>
        <p:spPr>
          <a:xfrm>
            <a:off x="7743265" y="3871492"/>
            <a:ext cx="2428875" cy="100012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4288">
            <a:solidFill>
              <a:srgbClr val="F04E35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measure_iteration.m</a:t>
            </a:r>
          </a:p>
          <a:p>
            <a:pPr algn="ctr">
              <a:lnSpc>
                <a:spcPct val="100000"/>
              </a:lnSpc>
              <a:buNone/>
              <a:defRPr sz="1200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Ref1/Ref2 → mixer → LPF → asin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265CD1D-9D88-4978-950B-D60B9FF141C5}"/>
              </a:ext>
            </a:extLst>
          </p:cNvPr>
          <p:cNvSpPr>
            <a:spLocks noGrp="1"/>
          </p:cNvSpPr>
          <p:nvPr/>
        </p:nvSpPr>
        <p:spPr>
          <a:xfrm>
            <a:off x="4647640" y="3871492"/>
            <a:ext cx="2619375" cy="1000125"/>
          </a:xfrm>
          <a:prstGeom prst="roundRect">
            <a:avLst>
              <a:gd name="adj" fmla="val 9524"/>
            </a:avLst>
          </a:prstGeom>
          <a:solidFill>
            <a:srgbClr val="14213D"/>
          </a:solidFill>
          <a:ln w="14288">
            <a:solidFill>
              <a:srgbClr val="14213D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5F0E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5F0E6"/>
                </a:solidFill>
                <a:latin typeface="DejaVu Sans Mono"/>
                <a:ea typeface="DejaVu Sans Mono"/>
                <a:cs typeface="DejaVu Sans Mono"/>
              </a:rPr>
              <a:t>compute_cross_psd.m</a:t>
            </a:r>
          </a:p>
          <a:p>
            <a:pPr algn="ctr">
              <a:lnSpc>
                <a:spcPct val="100000"/>
              </a:lnSpc>
              <a:buNone/>
              <a:defRPr sz="1275" b="1">
                <a:solidFill>
                  <a:srgbClr val="F5F0E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5F0E6"/>
                </a:solidFill>
                <a:latin typeface="DejaVu Sans Mono"/>
                <a:ea typeface="DejaVu Sans Mono"/>
                <a:cs typeface="DejaVu Sans Mono"/>
              </a:rPr>
              <a:t>X₁ · conj(X₂)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BDA28CD-26BB-4210-8F61-E93BB57A8A68}"/>
              </a:ext>
            </a:extLst>
          </p:cNvPr>
          <p:cNvSpPr>
            <a:spLocks noGrp="1"/>
          </p:cNvSpPr>
          <p:nvPr/>
        </p:nvSpPr>
        <p:spPr>
          <a:xfrm>
            <a:off x="1694890" y="3871492"/>
            <a:ext cx="2476500" cy="1000125"/>
          </a:xfrm>
          <a:prstGeom prst="roundRect">
            <a:avLst>
              <a:gd name="adj" fmla="val 9524"/>
            </a:avLst>
          </a:prstGeom>
          <a:solidFill>
            <a:srgbClr val="D8F15A"/>
          </a:solidFill>
          <a:ln w="14288">
            <a:solidFill>
              <a:srgbClr val="14213D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logbin_phase_noise.m</a:t>
            </a:r>
          </a:p>
          <a:p>
            <a:pPr algn="ctr">
              <a:lnSpc>
                <a:spcPct val="100000"/>
              </a:lnSpc>
              <a:buNone/>
              <a:defRPr sz="1200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SSB + 200 noktalı MAE</a:t>
            </a:r>
          </a:p>
        </p:txBody>
      </p:sp>
      <p:cxnSp>
        <p:nvCxnSpPr>
          <p:cNvPr id="33" name="Straight Arrow Connector 32"/>
          <p:cNvCxnSpPr>
            <a:stCxn id="7" idx="3"/>
            <a:endCxn id="8" idx="1"/>
          </p:cNvCxnSpPr>
          <p:nvPr/>
        </p:nvCxnSpPr>
        <p:spPr>
          <a:xfrm>
            <a:off x="4171390" y="2357017"/>
            <a:ext cx="476250" cy="0"/>
          </a:xfrm>
          <a:prstGeom prst="straightConnector1">
            <a:avLst/>
          </a:prstGeom>
          <a:ln w="23813">
            <a:solidFill>
              <a:srgbClr val="1769D2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4" name="Straight Arrow Connector 33"/>
          <p:cNvCxnSpPr>
            <a:stCxn id="8" idx="3"/>
            <a:endCxn id="9" idx="1"/>
          </p:cNvCxnSpPr>
          <p:nvPr/>
        </p:nvCxnSpPr>
        <p:spPr>
          <a:xfrm>
            <a:off x="7267015" y="2357017"/>
            <a:ext cx="476250" cy="0"/>
          </a:xfrm>
          <a:prstGeom prst="straightConnector1">
            <a:avLst/>
          </a:prstGeom>
          <a:ln w="23813">
            <a:solidFill>
              <a:srgbClr val="1769D2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5" name="Straight Arrow Connector 34"/>
          <p:cNvCxnSpPr>
            <a:stCxn id="9" idx="2"/>
            <a:endCxn id="10" idx="0"/>
          </p:cNvCxnSpPr>
          <p:nvPr/>
        </p:nvCxnSpPr>
        <p:spPr>
          <a:xfrm>
            <a:off x="8957703" y="2795167"/>
            <a:ext cx="0" cy="1076325"/>
          </a:xfrm>
          <a:prstGeom prst="straightConnector1">
            <a:avLst/>
          </a:prstGeom>
          <a:ln w="23813">
            <a:solidFill>
              <a:srgbClr val="F04E3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6" name="Straight Arrow Connector 35"/>
          <p:cNvCxnSpPr>
            <a:stCxn id="10" idx="1"/>
            <a:endCxn id="11" idx="3"/>
          </p:cNvCxnSpPr>
          <p:nvPr/>
        </p:nvCxnSpPr>
        <p:spPr>
          <a:xfrm flipH="1">
            <a:off x="7267015" y="4371555"/>
            <a:ext cx="476250" cy="0"/>
          </a:xfrm>
          <a:prstGeom prst="straightConnector1">
            <a:avLst/>
          </a:prstGeom>
          <a:ln w="23813">
            <a:solidFill>
              <a:srgbClr val="F04E3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7" name="Straight Arrow Connector 36"/>
          <p:cNvCxnSpPr>
            <a:stCxn id="11" idx="1"/>
            <a:endCxn id="12" idx="3"/>
          </p:cNvCxnSpPr>
          <p:nvPr/>
        </p:nvCxnSpPr>
        <p:spPr>
          <a:xfrm flipH="1">
            <a:off x="4171390" y="4371555"/>
            <a:ext cx="476250" cy="0"/>
          </a:xfrm>
          <a:prstGeom prst="straightConnector1">
            <a:avLst/>
          </a:prstGeom>
          <a:ln w="23813">
            <a:solidFill>
              <a:srgbClr val="1769D2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3EB120C-C9CB-4996-8933-C6BC179001A0}"/>
              </a:ext>
            </a:extLst>
          </p:cNvPr>
          <p:cNvSpPr>
            <a:spLocks noGrp="1"/>
          </p:cNvSpPr>
          <p:nvPr/>
        </p:nvSpPr>
        <p:spPr>
          <a:xfrm>
            <a:off x="3037915" y="5339183"/>
            <a:ext cx="1428750" cy="400050"/>
          </a:xfrm>
          <a:prstGeom prst="roundRect">
            <a:avLst>
              <a:gd name="adj" fmla="val 23810"/>
            </a:avLst>
          </a:prstGeom>
          <a:solidFill>
            <a:srgbClr val="ECE5D8"/>
          </a:solidFill>
          <a:ln w="14288">
            <a:solidFill>
              <a:srgbClr val="CFC7BA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raw .mat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45F07DE-DB1B-4D6C-A618-310271AFA03A}"/>
              </a:ext>
            </a:extLst>
          </p:cNvPr>
          <p:cNvSpPr>
            <a:spLocks noGrp="1"/>
          </p:cNvSpPr>
          <p:nvPr/>
        </p:nvSpPr>
        <p:spPr>
          <a:xfrm>
            <a:off x="1490102" y="5339183"/>
            <a:ext cx="1428750" cy="400050"/>
          </a:xfrm>
          <a:prstGeom prst="roundRect">
            <a:avLst>
              <a:gd name="adj" fmla="val 23810"/>
            </a:avLst>
          </a:prstGeom>
          <a:solidFill>
            <a:srgbClr val="ECE5D8"/>
          </a:solidFill>
          <a:ln w="14288">
            <a:solidFill>
              <a:srgbClr val="CFC7BA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dirty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PNG + CSV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CFD5A73-DFBF-423E-B315-8FACED3D353B}"/>
              </a:ext>
            </a:extLst>
          </p:cNvPr>
          <p:cNvCxnSpPr>
            <a:cxnSpLocks/>
            <a:stCxn id="12" idx="2"/>
            <a:endCxn id="19" idx="0"/>
          </p:cNvCxnSpPr>
          <p:nvPr/>
        </p:nvCxnSpPr>
        <p:spPr>
          <a:xfrm flipH="1">
            <a:off x="2204477" y="4871617"/>
            <a:ext cx="728663" cy="467566"/>
          </a:xfrm>
          <a:prstGeom prst="straightConnector1">
            <a:avLst/>
          </a:prstGeom>
          <a:ln w="23813">
            <a:solidFill>
              <a:srgbClr val="1769D2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7FFF8F3-ADD5-4AAD-91AA-4128A59AA0E1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>
            <a:off x="2933140" y="4871617"/>
            <a:ext cx="819150" cy="467566"/>
          </a:xfrm>
          <a:prstGeom prst="straightConnector1">
            <a:avLst/>
          </a:prstGeom>
          <a:ln w="23813">
            <a:solidFill>
              <a:srgbClr val="1769D2"/>
            </a:solidFill>
            <a:prstDash val="solid"/>
            <a:headEnd type="none" w="med" len="me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027991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1781C52-B482-4A61-BD05-DA801C5C7E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17333C-D1AC-4EF7-B731-BBF5C1D35750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KOD YAPISI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0BE806-52E9-47C3-BAB7-3A96364859C5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Yapılan Optimizasyonlar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1044C2-A862-484E-AF43-0E63EAD71BA0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r-TR" sz="1275" b="1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22</a:t>
            </a:r>
            <a:endParaRPr sz="1275" b="1" i="0" dirty="0">
              <a:solidFill>
                <a:srgbClr val="6B728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DC7135CF-1D0D-4C1F-864C-BB934BE9A5D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2BA0AF-4F99-4442-A4F5-BA2A3377CA02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58B9D6-5D44-4B28-8678-DFE7273B9882}"/>
              </a:ext>
            </a:extLst>
          </p:cNvPr>
          <p:cNvSpPr>
            <a:spLocks noGrp="1"/>
          </p:cNvSpPr>
          <p:nvPr/>
        </p:nvSpPr>
        <p:spPr>
          <a:xfrm>
            <a:off x="762000" y="176212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Önceki akış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EF9A83-0D82-456A-A4F9-C4005E48E98F}"/>
              </a:ext>
            </a:extLst>
          </p:cNvPr>
          <p:cNvSpPr>
            <a:spLocks noGrp="1"/>
          </p:cNvSpPr>
          <p:nvPr/>
        </p:nvSpPr>
        <p:spPr>
          <a:xfrm>
            <a:off x="6953250" y="1762125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Optimize edilmiş akış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A13C9F-25BC-4D50-BE67-902C5F54C3A9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xcorr → ifftshift → fft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59D87CE3-66F1-4CEA-94D4-B37551FC275F}"/>
              </a:ext>
            </a:extLst>
          </p:cNvPr>
          <p:cNvSpPr>
            <a:spLocks noGrp="1"/>
          </p:cNvSpPr>
          <p:nvPr/>
        </p:nvSpPr>
        <p:spPr>
          <a:xfrm>
            <a:off x="762000" y="2867025"/>
            <a:ext cx="419100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E4509C-46B5-4B70-9735-E7156A186225}"/>
              </a:ext>
            </a:extLst>
          </p:cNvPr>
          <p:cNvSpPr>
            <a:spLocks noGrp="1"/>
          </p:cNvSpPr>
          <p:nvPr/>
        </p:nvSpPr>
        <p:spPr>
          <a:xfrm>
            <a:off x="762000" y="3152775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NFFT = 2Nc − 1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0957ECE-633A-4EF8-B928-EA058F1F9955}"/>
              </a:ext>
            </a:extLst>
          </p:cNvPr>
          <p:cNvSpPr>
            <a:spLocks noGrp="1"/>
          </p:cNvSpPr>
          <p:nvPr/>
        </p:nvSpPr>
        <p:spPr>
          <a:xfrm>
            <a:off x="762000" y="3590925"/>
            <a:ext cx="419100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D640FB-E8AD-4455-885C-E6B7F59AA2FB}"/>
              </a:ext>
            </a:extLst>
          </p:cNvPr>
          <p:cNvSpPr>
            <a:spLocks noGrp="1"/>
          </p:cNvSpPr>
          <p:nvPr/>
        </p:nvSpPr>
        <p:spPr>
          <a:xfrm>
            <a:off x="762000" y="3876675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LPF her iterasyonda tasarlanır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675F9D7E-5E7D-4063-AC1D-7EB63DAAA636}"/>
              </a:ext>
            </a:extLst>
          </p:cNvPr>
          <p:cNvSpPr>
            <a:spLocks noGrp="1"/>
          </p:cNvSpPr>
          <p:nvPr/>
        </p:nvSpPr>
        <p:spPr>
          <a:xfrm>
            <a:off x="762000" y="4314825"/>
            <a:ext cx="419100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31C59E-3E82-4353-ABF0-8920B89A0D5E}"/>
              </a:ext>
            </a:extLst>
          </p:cNvPr>
          <p:cNvSpPr>
            <a:spLocks noGrp="1"/>
          </p:cNvSpPr>
          <p:nvPr/>
        </p:nvSpPr>
        <p:spPr>
          <a:xfrm>
            <a:off x="762000" y="4600575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kanallar ayrı filtrelenir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784DFE12-69CC-4DC0-A36F-7AE863E4EE6B}"/>
              </a:ext>
            </a:extLst>
          </p:cNvPr>
          <p:cNvSpPr>
            <a:spLocks noGrp="1"/>
          </p:cNvSpPr>
          <p:nvPr/>
        </p:nvSpPr>
        <p:spPr>
          <a:xfrm>
            <a:off x="762000" y="5038725"/>
            <a:ext cx="419100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5DD69B-5580-4187-863B-659898551B01}"/>
              </a:ext>
            </a:extLst>
          </p:cNvPr>
          <p:cNvSpPr>
            <a:spLocks noGrp="1"/>
          </p:cNvSpPr>
          <p:nvPr/>
        </p:nvSpPr>
        <p:spPr>
          <a:xfrm>
            <a:off x="762000" y="5324475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kayan ortalama / dB-bin maksimumu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0BB57FB-EEA8-4178-AECD-88F89D513E8A}"/>
              </a:ext>
            </a:extLst>
          </p:cNvPr>
          <p:cNvSpPr>
            <a:spLocks noGrp="1"/>
          </p:cNvSpPr>
          <p:nvPr/>
        </p:nvSpPr>
        <p:spPr>
          <a:xfrm>
            <a:off x="762000" y="5762625"/>
            <a:ext cx="419100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C86BDD-5BFB-472E-9AEC-BFF1834CA532}"/>
              </a:ext>
            </a:extLst>
          </p:cNvPr>
          <p:cNvSpPr>
            <a:spLocks noGrp="1"/>
          </p:cNvSpPr>
          <p:nvPr/>
        </p:nvSpPr>
        <p:spPr>
          <a:xfrm>
            <a:off x="6953250" y="2428875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doğrudan X₁ · X₂*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D199380-1973-4C20-90B1-3CDA15173A37}"/>
              </a:ext>
            </a:extLst>
          </p:cNvPr>
          <p:cNvSpPr>
            <a:spLocks noGrp="1"/>
          </p:cNvSpPr>
          <p:nvPr/>
        </p:nvSpPr>
        <p:spPr>
          <a:xfrm>
            <a:off x="6953250" y="2867025"/>
            <a:ext cx="4286250" cy="0"/>
          </a:xfrm>
          <a:prstGeom prst="line">
            <a:avLst/>
          </a:prstGeom>
          <a:noFill/>
          <a:ln w="9525">
            <a:solidFill>
              <a:srgbClr val="8BB9F0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738541-74C0-4DDE-97A1-51AACE3A9A33}"/>
              </a:ext>
            </a:extLst>
          </p:cNvPr>
          <p:cNvSpPr>
            <a:spLocks noGrp="1"/>
          </p:cNvSpPr>
          <p:nvPr/>
        </p:nvSpPr>
        <p:spPr>
          <a:xfrm>
            <a:off x="6953250" y="3152775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radix-2 nextpow2 FFT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BBB19858-2595-4E95-B6CA-5F28C7143939}"/>
              </a:ext>
            </a:extLst>
          </p:cNvPr>
          <p:cNvSpPr>
            <a:spLocks noGrp="1"/>
          </p:cNvSpPr>
          <p:nvPr/>
        </p:nvSpPr>
        <p:spPr>
          <a:xfrm>
            <a:off x="6953250" y="3590925"/>
            <a:ext cx="4286250" cy="0"/>
          </a:xfrm>
          <a:prstGeom prst="line">
            <a:avLst/>
          </a:prstGeom>
          <a:noFill/>
          <a:ln w="9525">
            <a:solidFill>
              <a:srgbClr val="8BB9F0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E1FE86-881A-44C4-9ABF-A27835577B52}"/>
              </a:ext>
            </a:extLst>
          </p:cNvPr>
          <p:cNvSpPr>
            <a:spLocks noGrp="1"/>
          </p:cNvSpPr>
          <p:nvPr/>
        </p:nvSpPr>
        <p:spPr>
          <a:xfrm>
            <a:off x="6953250" y="3876675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Butterworth katsayıları cache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23A4649-EFB8-45B3-A839-B56A8068228F}"/>
              </a:ext>
            </a:extLst>
          </p:cNvPr>
          <p:cNvSpPr>
            <a:spLocks noGrp="1"/>
          </p:cNvSpPr>
          <p:nvPr/>
        </p:nvSpPr>
        <p:spPr>
          <a:xfrm>
            <a:off x="6953250" y="4314825"/>
            <a:ext cx="4286250" cy="0"/>
          </a:xfrm>
          <a:prstGeom prst="line">
            <a:avLst/>
          </a:prstGeom>
          <a:noFill/>
          <a:ln w="9525">
            <a:solidFill>
              <a:srgbClr val="8BB9F0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96150A-FA64-4A4D-9A6D-9F38A697EE64}"/>
              </a:ext>
            </a:extLst>
          </p:cNvPr>
          <p:cNvSpPr>
            <a:spLocks noGrp="1"/>
          </p:cNvSpPr>
          <p:nvPr/>
        </p:nvSpPr>
        <p:spPr>
          <a:xfrm>
            <a:off x="6953250" y="4600575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iki kolon tek filter çağrısı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B3DB8D2B-84D7-4A39-A343-75276A079B9F}"/>
              </a:ext>
            </a:extLst>
          </p:cNvPr>
          <p:cNvSpPr>
            <a:spLocks noGrp="1"/>
          </p:cNvSpPr>
          <p:nvPr/>
        </p:nvSpPr>
        <p:spPr>
          <a:xfrm>
            <a:off x="6953250" y="5038725"/>
            <a:ext cx="4286250" cy="0"/>
          </a:xfrm>
          <a:prstGeom prst="line">
            <a:avLst/>
          </a:prstGeom>
          <a:noFill/>
          <a:ln w="9525">
            <a:solidFill>
              <a:srgbClr val="8BB9F0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6A70EC-51BF-489F-B49C-FF7331913222}"/>
              </a:ext>
            </a:extLst>
          </p:cNvPr>
          <p:cNvSpPr>
            <a:spLocks noGrp="1"/>
          </p:cNvSpPr>
          <p:nvPr/>
        </p:nvSpPr>
        <p:spPr>
          <a:xfrm>
            <a:off x="6953250" y="5324475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kompleks toplam + lineer PSD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241F49DA-592E-4F0B-8D11-7050CF173D4F}"/>
              </a:ext>
            </a:extLst>
          </p:cNvPr>
          <p:cNvSpPr>
            <a:spLocks noGrp="1"/>
          </p:cNvSpPr>
          <p:nvPr/>
        </p:nvSpPr>
        <p:spPr>
          <a:xfrm>
            <a:off x="6953250" y="5762625"/>
            <a:ext cx="4286250" cy="0"/>
          </a:xfrm>
          <a:prstGeom prst="line">
            <a:avLst/>
          </a:prstGeom>
          <a:noFill/>
          <a:ln w="9525">
            <a:solidFill>
              <a:srgbClr val="8BB9F0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B46488-C4FE-447D-B0B7-0CB5E86B802C}"/>
              </a:ext>
            </a:extLst>
          </p:cNvPr>
          <p:cNvSpPr>
            <a:spLocks noGrp="1"/>
          </p:cNvSpPr>
          <p:nvPr/>
        </p:nvSpPr>
        <p:spPr>
          <a:xfrm>
            <a:off x="5429250" y="3219451"/>
            <a:ext cx="857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525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525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rPr>
              <a:t>→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FBCB51-28C2-4DA7-9C15-D66C5F8726D7}"/>
              </a:ext>
            </a:extLst>
          </p:cNvPr>
          <p:cNvSpPr>
            <a:spLocks noGrp="1"/>
          </p:cNvSpPr>
          <p:nvPr/>
        </p:nvSpPr>
        <p:spPr>
          <a:xfrm>
            <a:off x="5162550" y="4019551"/>
            <a:ext cx="1428750" cy="590550"/>
          </a:xfrm>
          <a:prstGeom prst="rect">
            <a:avLst/>
          </a:prstGeom>
          <a:solidFill>
            <a:srgbClr val="D8F15A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A4AC80-A99C-488D-9172-AD3EA60A85CD}"/>
              </a:ext>
            </a:extLst>
          </p:cNvPr>
          <p:cNvSpPr>
            <a:spLocks noGrp="1"/>
          </p:cNvSpPr>
          <p:nvPr/>
        </p:nvSpPr>
        <p:spPr>
          <a:xfrm>
            <a:off x="5276850" y="4152901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buNone/>
              <a:defRPr sz="1125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 dirty="0" err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aynı</a:t>
            </a:r>
            <a:r>
              <a:rPr sz="1125" b="1" i="0" dirty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125" b="1" i="0" dirty="0" err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ilke</a:t>
            </a:r>
            <a:endParaRPr sz="1125" b="1" i="0" dirty="0">
              <a:solidFill>
                <a:srgbClr val="14213D"/>
              </a:solidFill>
              <a:latin typeface="DejaVu Sans Mono"/>
              <a:ea typeface="DejaVu Sans Mono"/>
              <a:cs typeface="DejaVu Sans Mono"/>
            </a:endParaRPr>
          </a:p>
          <a:p>
            <a:pPr algn="ctr">
              <a:lnSpc>
                <a:spcPct val="95000"/>
              </a:lnSpc>
              <a:buNone/>
              <a:defRPr sz="1125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 dirty="0" err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daha</a:t>
            </a:r>
            <a:r>
              <a:rPr sz="1125" b="1" i="0" dirty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125" b="1" i="0" dirty="0" err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az</a:t>
            </a:r>
            <a:r>
              <a:rPr sz="1125" b="1" i="0" dirty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125" b="1" i="0" dirty="0" err="1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işlem</a:t>
            </a:r>
            <a:endParaRPr sz="1125" b="1" i="0" dirty="0">
              <a:solidFill>
                <a:srgbClr val="14213D"/>
              </a:solidFill>
              <a:latin typeface="DejaVu Sans Mono"/>
              <a:ea typeface="DejaVu Sans Mono"/>
              <a:cs typeface="DejaVu Sans Mono"/>
            </a:endParaRPr>
          </a:p>
        </p:txBody>
      </p:sp>
    </p:spTree>
    <p:extLst>
      <p:ext uri="{BB962C8B-B14F-4D97-AF65-F5344CB8AC3E}">
        <p14:creationId xmlns:p14="http://schemas.microsoft.com/office/powerpoint/2010/main" val="16679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38C5118-8686-4089-8A0D-63BE94AE4B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D9B106-C3D8-472E-BFE3-023202D8C043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KOD YAPISI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5C1BC-FFC3-4035-96CB-95EEA8432B73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Küçük Açı Yaklaşımı ve asin()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2944A8-8BF1-4117-9017-DD34895363F0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r-TR" sz="1275" b="1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23</a:t>
            </a:r>
            <a:endParaRPr sz="1275" b="1" i="0" dirty="0">
              <a:solidFill>
                <a:srgbClr val="6B728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8D5FD0B1-08E1-4E85-9E05-34F65773B576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A43C92-F758-43AB-A9EC-78E1B740B1EB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5B75D07-60E5-4514-B997-3DB8194DB72B}"/>
              </a:ext>
            </a:extLst>
          </p:cNvPr>
          <p:cNvSpPr>
            <a:spLocks noGrp="1"/>
          </p:cNvSpPr>
          <p:nvPr/>
        </p:nvSpPr>
        <p:spPr>
          <a:xfrm>
            <a:off x="6298355" y="1581150"/>
            <a:ext cx="5334000" cy="36671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tr-TR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19872" y="1704975"/>
            <a:ext cx="4290965" cy="333375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45EBD5E-FA49-4075-A61F-2F11852837CA}"/>
              </a:ext>
            </a:extLst>
          </p:cNvPr>
          <p:cNvSpPr>
            <a:spLocks noGrp="1"/>
          </p:cNvSpPr>
          <p:nvPr/>
        </p:nvSpPr>
        <p:spPr>
          <a:xfrm>
            <a:off x="642652" y="1581150"/>
            <a:ext cx="5334000" cy="36671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tr-TR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58846" y="1909763"/>
            <a:ext cx="4301613" cy="33337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42866DB-A826-4A0F-9D5E-161F818B8212}"/>
              </a:ext>
            </a:extLst>
          </p:cNvPr>
          <p:cNvSpPr>
            <a:spLocks noGrp="1"/>
          </p:cNvSpPr>
          <p:nvPr/>
        </p:nvSpPr>
        <p:spPr>
          <a:xfrm>
            <a:off x="7012730" y="5343525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Yüksek RMS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85556F-8F2A-4575-84D6-B708108ACBD9}"/>
              </a:ext>
            </a:extLst>
          </p:cNvPr>
          <p:cNvSpPr>
            <a:spLocks noGrp="1"/>
          </p:cNvSpPr>
          <p:nvPr/>
        </p:nvSpPr>
        <p:spPr>
          <a:xfrm>
            <a:off x="1357027" y="5343525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1E9B7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 i="0">
                <a:solidFill>
                  <a:srgbClr val="1E9B72"/>
                </a:solidFill>
                <a:latin typeface="DejaVu Sans Mono"/>
                <a:ea typeface="DejaVu Sans Mono"/>
                <a:cs typeface="DejaVu Sans Mono"/>
              </a:rPr>
              <a:t>Düşük RMS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EF2635-F46E-4702-AF6B-453299780B75}"/>
              </a:ext>
            </a:extLst>
          </p:cNvPr>
          <p:cNvSpPr>
            <a:spLocks noGrp="1"/>
          </p:cNvSpPr>
          <p:nvPr/>
        </p:nvSpPr>
        <p:spPr>
          <a:xfrm>
            <a:off x="6517430" y="57721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725" b="1" i="0">
                <a:solidFill>
                  <a:srgbClr val="F04E3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F04E35"/>
                </a:solidFill>
                <a:latin typeface="DejaVu Sans"/>
                <a:ea typeface="DejaVu Sans"/>
                <a:cs typeface="DejaVu Sans"/>
              </a:rPr>
              <a:t>Ortalama iyileşme ≈ 0,79 dB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A35617-CA33-4D47-B5AE-8E6B8FF09A02}"/>
              </a:ext>
            </a:extLst>
          </p:cNvPr>
          <p:cNvSpPr>
            <a:spLocks noGrp="1"/>
          </p:cNvSpPr>
          <p:nvPr/>
        </p:nvSpPr>
        <p:spPr>
          <a:xfrm>
            <a:off x="861727" y="57721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725" b="1" i="0">
                <a:solidFill>
                  <a:srgbClr val="1E9B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1E9B72"/>
                </a:solidFill>
                <a:latin typeface="DejaVu Sans"/>
                <a:ea typeface="DejaVu Sans"/>
                <a:cs typeface="DejaVu Sans"/>
              </a:rPr>
              <a:t>Fark &lt; 0,01 dB</a:t>
            </a:r>
          </a:p>
        </p:txBody>
      </p:sp>
    </p:spTree>
    <p:extLst>
      <p:ext uri="{BB962C8B-B14F-4D97-AF65-F5344CB8AC3E}">
        <p14:creationId xmlns:p14="http://schemas.microsoft.com/office/powerpoint/2010/main" val="1367306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5B6BB41-C653-4D11-9EC3-F1BDDA2002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0A8A10-A6C6-4857-8FF1-436AFA38294C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PARAMETRIK KARŞILAŞTIRMALAR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2719AD-FB18-4A4A-BEC9-57E2A0A2BA5B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Temel Simülasyon Parametreleri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A549FD-26FC-4B41-A688-EB362D50E1EC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r-TR" sz="1275" b="1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24</a:t>
            </a:r>
            <a:endParaRPr sz="1275" b="1" i="0" dirty="0">
              <a:solidFill>
                <a:srgbClr val="6B728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540289CB-B616-484E-B7F8-15E9FBB80F7B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C575B4-333D-4B6B-A4A4-103722AC767B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B7E09D-D517-4C14-82F5-4221015FB3AC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Örnek sayısı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2F4CFE-4475-4086-A7F1-230AE2E90F10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409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40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400" b="1" dirty="0">
                <a:solidFill>
                  <a:srgbClr val="14213D"/>
                </a:solidFill>
                <a:latin typeface="DejaVu Sans Condensed"/>
              </a:rPr>
              <a:t>1.000.000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9B67BB42-724A-43B1-A86D-0C677A8A88E4}"/>
              </a:ext>
            </a:extLst>
          </p:cNvPr>
          <p:cNvSpPr>
            <a:spLocks noGrp="1"/>
          </p:cNvSpPr>
          <p:nvPr/>
        </p:nvSpPr>
        <p:spPr>
          <a:xfrm>
            <a:off x="857250" y="2409825"/>
            <a:ext cx="428625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EBAC3B-2D45-4815-8DBC-33981003D2E7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Örnekleme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10B8FC-9D19-4A51-B38F-F324E3022AFA}"/>
              </a:ext>
            </a:extLst>
          </p:cNvPr>
          <p:cNvSpPr>
            <a:spLocks noGrp="1"/>
          </p:cNvSpPr>
          <p:nvPr/>
        </p:nvSpPr>
        <p:spPr>
          <a:xfrm>
            <a:off x="857250" y="2905125"/>
            <a:ext cx="409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40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40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1 MHz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4596EC6A-3DCF-4EF0-BE87-789920792CD5}"/>
              </a:ext>
            </a:extLst>
          </p:cNvPr>
          <p:cNvSpPr>
            <a:spLocks noGrp="1"/>
          </p:cNvSpPr>
          <p:nvPr/>
        </p:nvSpPr>
        <p:spPr>
          <a:xfrm>
            <a:off x="857250" y="3409950"/>
            <a:ext cx="428625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9C165C-FAF7-4936-8F5A-E9F1DF3426F2}"/>
              </a:ext>
            </a:extLst>
          </p:cNvPr>
          <p:cNvSpPr>
            <a:spLocks noGrp="1"/>
          </p:cNvSpPr>
          <p:nvPr/>
        </p:nvSpPr>
        <p:spPr>
          <a:xfrm>
            <a:off x="857250" y="3571875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Taşıyıcı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BF7F8F-EAB4-4371-9A4C-352990EDE567}"/>
              </a:ext>
            </a:extLst>
          </p:cNvPr>
          <p:cNvSpPr>
            <a:spLocks noGrp="1"/>
          </p:cNvSpPr>
          <p:nvPr/>
        </p:nvSpPr>
        <p:spPr>
          <a:xfrm>
            <a:off x="857250" y="3905250"/>
            <a:ext cx="409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40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40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200 kHz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BA96F1A7-28E1-47D3-9A01-7EE38A1657F6}"/>
              </a:ext>
            </a:extLst>
          </p:cNvPr>
          <p:cNvSpPr>
            <a:spLocks noGrp="1"/>
          </p:cNvSpPr>
          <p:nvPr/>
        </p:nvSpPr>
        <p:spPr>
          <a:xfrm>
            <a:off x="857250" y="4410075"/>
            <a:ext cx="428625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9AF830-C11F-4B45-818B-98E0422B2BBC}"/>
              </a:ext>
            </a:extLst>
          </p:cNvPr>
          <p:cNvSpPr>
            <a:spLocks noGrp="1"/>
          </p:cNvSpPr>
          <p:nvPr/>
        </p:nvSpPr>
        <p:spPr>
          <a:xfrm>
            <a:off x="857250" y="45720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Taşıyıcı genliği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BBDDFD-E01F-44E0-8EC4-158BC0B07502}"/>
              </a:ext>
            </a:extLst>
          </p:cNvPr>
          <p:cNvSpPr>
            <a:spLocks noGrp="1"/>
          </p:cNvSpPr>
          <p:nvPr/>
        </p:nvSpPr>
        <p:spPr>
          <a:xfrm>
            <a:off x="857250" y="4905375"/>
            <a:ext cx="409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40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40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1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C45FCFA2-B7D5-47CE-8D17-7F770C0F5E8F}"/>
              </a:ext>
            </a:extLst>
          </p:cNvPr>
          <p:cNvSpPr>
            <a:spLocks noGrp="1"/>
          </p:cNvSpPr>
          <p:nvPr/>
        </p:nvSpPr>
        <p:spPr>
          <a:xfrm>
            <a:off x="857250" y="5410200"/>
            <a:ext cx="428625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F8703B-241A-419B-92B9-9558ADC4D2F4}"/>
              </a:ext>
            </a:extLst>
          </p:cNvPr>
          <p:cNvSpPr>
            <a:spLocks noGrp="1"/>
          </p:cNvSpPr>
          <p:nvPr/>
        </p:nvSpPr>
        <p:spPr>
          <a:xfrm>
            <a:off x="6667500" y="1571625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LPF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3BDEBA-6EBF-4AD7-8367-8D5AEC369CFE}"/>
              </a:ext>
            </a:extLst>
          </p:cNvPr>
          <p:cNvSpPr>
            <a:spLocks noGrp="1"/>
          </p:cNvSpPr>
          <p:nvPr/>
        </p:nvSpPr>
        <p:spPr>
          <a:xfrm>
            <a:off x="6667500" y="1905000"/>
            <a:ext cx="409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40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400" b="1" i="0" dirty="0">
                <a:solidFill>
                  <a:schemeClr val="bg2">
                    <a:lumMod val="10000"/>
                  </a:schemeClr>
                </a:solidFill>
                <a:latin typeface="DejaVu Sans Condensed"/>
                <a:ea typeface="DejaVu Sans Condensed"/>
                <a:cs typeface="DejaVu Sans Condensed"/>
              </a:rPr>
              <a:t>4. </a:t>
            </a:r>
            <a:r>
              <a:rPr sz="2400" b="1" dirty="0" err="1">
                <a:solidFill>
                  <a:schemeClr val="bg2">
                    <a:lumMod val="10000"/>
                  </a:schemeClr>
                </a:solidFill>
                <a:latin typeface="DejaVu Sans Condensed"/>
              </a:rPr>
              <a:t>derece</a:t>
            </a:r>
            <a:r>
              <a:rPr sz="2400" b="1" i="0" dirty="0">
                <a:solidFill>
                  <a:schemeClr val="bg2">
                    <a:lumMod val="10000"/>
                  </a:schemeClr>
                </a:solidFill>
                <a:latin typeface="DejaVu Sans Condensed"/>
                <a:ea typeface="DejaVu Sans Condensed"/>
                <a:cs typeface="DejaVu Sans Condensed"/>
              </a:rPr>
              <a:t> / 50 kHz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2B097D9-33DF-4303-B992-02EF4810B2F4}"/>
              </a:ext>
            </a:extLst>
          </p:cNvPr>
          <p:cNvSpPr>
            <a:spLocks noGrp="1"/>
          </p:cNvSpPr>
          <p:nvPr/>
        </p:nvSpPr>
        <p:spPr>
          <a:xfrm>
            <a:off x="6667500" y="2409825"/>
            <a:ext cx="428625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54EFA4-0CF4-4E6E-A21F-8C8CE964AF90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DUT RMS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AA99F4-60CC-4565-ADC5-510022B9E20C}"/>
              </a:ext>
            </a:extLst>
          </p:cNvPr>
          <p:cNvSpPr>
            <a:spLocks noGrp="1"/>
          </p:cNvSpPr>
          <p:nvPr/>
        </p:nvSpPr>
        <p:spPr>
          <a:xfrm>
            <a:off x="6667500" y="2905125"/>
            <a:ext cx="409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40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40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0,05 rad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82D07724-1200-44DD-A2A9-F8DE7A662DBF}"/>
              </a:ext>
            </a:extLst>
          </p:cNvPr>
          <p:cNvSpPr>
            <a:spLocks noGrp="1"/>
          </p:cNvSpPr>
          <p:nvPr/>
        </p:nvSpPr>
        <p:spPr>
          <a:xfrm>
            <a:off x="6667500" y="3409950"/>
            <a:ext cx="428625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451397-4C14-4D67-8E35-1E4C187B972F}"/>
              </a:ext>
            </a:extLst>
          </p:cNvPr>
          <p:cNvSpPr>
            <a:spLocks noGrp="1"/>
          </p:cNvSpPr>
          <p:nvPr/>
        </p:nvSpPr>
        <p:spPr>
          <a:xfrm>
            <a:off x="6667500" y="3571875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Ref1 / Ref2 RMS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22C1B6-C7E1-45D3-8472-DCACCD846A00}"/>
              </a:ext>
            </a:extLst>
          </p:cNvPr>
          <p:cNvSpPr>
            <a:spLocks noGrp="1"/>
          </p:cNvSpPr>
          <p:nvPr/>
        </p:nvSpPr>
        <p:spPr>
          <a:xfrm>
            <a:off x="6667500" y="3905250"/>
            <a:ext cx="409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40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40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0,05 rad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E33818FF-A82B-40D1-A789-02E20114C669}"/>
              </a:ext>
            </a:extLst>
          </p:cNvPr>
          <p:cNvSpPr>
            <a:spLocks noGrp="1"/>
          </p:cNvSpPr>
          <p:nvPr/>
        </p:nvSpPr>
        <p:spPr>
          <a:xfrm>
            <a:off x="6667500" y="4410075"/>
            <a:ext cx="428625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6CC872-AF86-44CA-A422-B56FC7A44997}"/>
              </a:ext>
            </a:extLst>
          </p:cNvPr>
          <p:cNvSpPr>
            <a:spLocks noGrp="1"/>
          </p:cNvSpPr>
          <p:nvPr/>
        </p:nvSpPr>
        <p:spPr>
          <a:xfrm>
            <a:off x="6667500" y="45720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r-TR" sz="1275" b="0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İterasyon</a:t>
            </a:r>
            <a:r>
              <a:rPr sz="1275" b="0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 / log-bin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5E1723-F1B6-4C79-AFD9-00033D3561B3}"/>
              </a:ext>
            </a:extLst>
          </p:cNvPr>
          <p:cNvSpPr>
            <a:spLocks noGrp="1"/>
          </p:cNvSpPr>
          <p:nvPr/>
        </p:nvSpPr>
        <p:spPr>
          <a:xfrm>
            <a:off x="6667500" y="4905375"/>
            <a:ext cx="409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40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400" b="1" i="0" dirty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100 / 100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538789C9-6F21-4F2D-B1E9-9F783BA150A1}"/>
              </a:ext>
            </a:extLst>
          </p:cNvPr>
          <p:cNvSpPr>
            <a:spLocks noGrp="1"/>
          </p:cNvSpPr>
          <p:nvPr/>
        </p:nvSpPr>
        <p:spPr>
          <a:xfrm>
            <a:off x="6667500" y="5410200"/>
            <a:ext cx="428625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EF5AA69-8937-4FBE-B4DF-0CDE1082B1A2}"/>
              </a:ext>
            </a:extLst>
          </p:cNvPr>
          <p:cNvSpPr>
            <a:spLocks noGrp="1"/>
          </p:cNvSpPr>
          <p:nvPr/>
        </p:nvSpPr>
        <p:spPr>
          <a:xfrm>
            <a:off x="5476875" y="1428750"/>
            <a:ext cx="38100" cy="4191000"/>
          </a:xfrm>
          <a:prstGeom prst="rect">
            <a:avLst/>
          </a:prstGeom>
          <a:solidFill>
            <a:srgbClr val="F04E35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DAA481-42CB-4833-BE2F-AE7E5EB9AEA0}"/>
              </a:ext>
            </a:extLst>
          </p:cNvPr>
          <p:cNvSpPr>
            <a:spLocks noGrp="1"/>
          </p:cNvSpPr>
          <p:nvPr/>
        </p:nvSpPr>
        <p:spPr>
          <a:xfrm>
            <a:off x="2762250" y="58102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75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 i="0" dirty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Her </a:t>
            </a:r>
            <a:r>
              <a:rPr sz="1575" b="1" i="0" dirty="0" err="1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taramada</a:t>
            </a:r>
            <a:r>
              <a:rPr sz="1575" b="1" i="0" dirty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 b="1" i="0" dirty="0" err="1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yalnız</a:t>
            </a:r>
            <a:r>
              <a:rPr sz="1575" b="1" i="0" dirty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 b="1" i="0" dirty="0" err="1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incelenen</a:t>
            </a:r>
            <a:r>
              <a:rPr sz="1575" b="1" i="0" dirty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 b="1" i="0" dirty="0" err="1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parametre</a:t>
            </a:r>
            <a:r>
              <a:rPr sz="1575" b="1" i="0" dirty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 b="1" i="0" dirty="0" err="1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değişir</a:t>
            </a:r>
            <a:r>
              <a:rPr sz="1575" b="1" i="0" dirty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0481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085548E-63F1-492C-8BED-C23D55F50F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4192A9-1AC3-4F72-9C1B-2DC642746CB7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PARAMETRIK KARŞILAŞTIRMALAR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A347D-0E91-42EC-8313-C3D15D3BC49D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LPF Kesim Frekansı Karşılaştırması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8193B1-AD91-4C78-B3EA-9E73E304D401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r-TR" sz="1275" b="1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25</a:t>
            </a:r>
            <a:endParaRPr sz="1275" b="1" i="0" dirty="0">
              <a:solidFill>
                <a:srgbClr val="6B728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F277017-6FED-4ED4-87F5-278EE92AB01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3CBED6-721A-42DC-9E52-7156CE2789D3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2DF109-AC47-468E-93C5-BE44B06CB20A}"/>
              </a:ext>
            </a:extLst>
          </p:cNvPr>
          <p:cNvSpPr>
            <a:spLocks noGrp="1"/>
          </p:cNvSpPr>
          <p:nvPr/>
        </p:nvSpPr>
        <p:spPr>
          <a:xfrm>
            <a:off x="352707" y="2196353"/>
            <a:ext cx="3567393" cy="2644587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tr-TR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3"/>
          <a:srcRect l="4266" t="4809" b="5190"/>
          <a:stretch/>
        </p:blipFill>
        <p:spPr>
          <a:xfrm>
            <a:off x="386825" y="2276597"/>
            <a:ext cx="3312617" cy="24536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F7E1953-343F-4304-9456-B7657AB9B72D}"/>
              </a:ext>
            </a:extLst>
          </p:cNvPr>
          <p:cNvSpPr>
            <a:spLocks noGrp="1"/>
          </p:cNvSpPr>
          <p:nvPr/>
        </p:nvSpPr>
        <p:spPr>
          <a:xfrm>
            <a:off x="4786312" y="4991426"/>
            <a:ext cx="2619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 dirty="0">
                <a:solidFill>
                  <a:schemeClr val="bg2">
                    <a:lumMod val="10000"/>
                  </a:schemeClr>
                </a:solidFill>
                <a:latin typeface="DejaVu Sans Mono"/>
                <a:ea typeface="DejaVu Sans Mono"/>
                <a:cs typeface="DejaVu Sans Mono"/>
              </a:rPr>
              <a:t>1 kHz — </a:t>
            </a:r>
            <a:r>
              <a:rPr sz="1125" b="1" i="0" dirty="0" err="1">
                <a:solidFill>
                  <a:schemeClr val="bg2">
                    <a:lumMod val="10000"/>
                  </a:schemeClr>
                </a:solidFill>
                <a:latin typeface="DejaVu Sans Mono"/>
                <a:ea typeface="DejaVu Sans Mono"/>
                <a:cs typeface="DejaVu Sans Mono"/>
              </a:rPr>
              <a:t>dar</a:t>
            </a:r>
            <a:r>
              <a:rPr sz="1125" b="1" i="0" dirty="0">
                <a:solidFill>
                  <a:schemeClr val="bg2">
                    <a:lumMod val="10000"/>
                  </a:schemeClr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125" b="1" i="0" dirty="0" err="1">
                <a:solidFill>
                  <a:schemeClr val="bg2">
                    <a:lumMod val="10000"/>
                  </a:schemeClr>
                </a:solidFill>
                <a:latin typeface="DejaVu Sans Mono"/>
                <a:ea typeface="DejaVu Sans Mono"/>
                <a:cs typeface="DejaVu Sans Mono"/>
              </a:rPr>
              <a:t>bant</a:t>
            </a:r>
            <a:endParaRPr sz="1125" b="1" i="0" dirty="0">
              <a:solidFill>
                <a:schemeClr val="bg2">
                  <a:lumMod val="10000"/>
                </a:schemeClr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B29F1C-DE5D-4EF5-B8C6-7B8557288618}"/>
              </a:ext>
            </a:extLst>
          </p:cNvPr>
          <p:cNvSpPr>
            <a:spLocks noGrp="1"/>
          </p:cNvSpPr>
          <p:nvPr/>
        </p:nvSpPr>
        <p:spPr>
          <a:xfrm>
            <a:off x="8765240" y="4993666"/>
            <a:ext cx="2619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25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 dirty="0">
                <a:solidFill>
                  <a:schemeClr val="bg2">
                    <a:lumMod val="10000"/>
                  </a:schemeClr>
                </a:solidFill>
                <a:latin typeface="DejaVu Sans Mono"/>
                <a:ea typeface="DejaVu Sans Mono"/>
                <a:cs typeface="DejaVu Sans Mono"/>
              </a:rPr>
              <a:t>300 kHz — 2f₀ </a:t>
            </a:r>
            <a:r>
              <a:rPr sz="1125" b="1" i="0" dirty="0" err="1">
                <a:solidFill>
                  <a:schemeClr val="bg2">
                    <a:lumMod val="10000"/>
                  </a:schemeClr>
                </a:solidFill>
                <a:latin typeface="DejaVu Sans Mono"/>
                <a:ea typeface="DejaVu Sans Mono"/>
                <a:cs typeface="DejaVu Sans Mono"/>
              </a:rPr>
              <a:t>artığı</a:t>
            </a:r>
            <a:endParaRPr sz="1125" b="1" i="0" dirty="0">
              <a:solidFill>
                <a:schemeClr val="bg2">
                  <a:lumMod val="10000"/>
                </a:schemeClr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01CCDA-60B8-4CB3-8020-3CCED57F1579}"/>
              </a:ext>
            </a:extLst>
          </p:cNvPr>
          <p:cNvSpPr>
            <a:spLocks noGrp="1"/>
          </p:cNvSpPr>
          <p:nvPr/>
        </p:nvSpPr>
        <p:spPr>
          <a:xfrm>
            <a:off x="3000374" y="5971849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425" b="1" i="0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 dirty="0" err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En</a:t>
            </a:r>
            <a:r>
              <a:rPr sz="1425" b="1" i="0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i="0" dirty="0" err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düşük</a:t>
            </a:r>
            <a:r>
              <a:rPr sz="1425" b="1" i="0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i="0" dirty="0" err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gözlenen</a:t>
            </a:r>
            <a:r>
              <a:rPr sz="1425" b="1" i="0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 tam </a:t>
            </a:r>
            <a:r>
              <a:rPr sz="1425" b="1" i="0" dirty="0" err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bant</a:t>
            </a:r>
            <a:r>
              <a:rPr sz="1425" b="1" i="0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 MAE: 0,805 dB @ 50 kHz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66A6FE0-C479-4ECF-B104-6857A34BBB42}"/>
              </a:ext>
            </a:extLst>
          </p:cNvPr>
          <p:cNvSpPr>
            <a:spLocks noGrp="1"/>
          </p:cNvSpPr>
          <p:nvPr/>
        </p:nvSpPr>
        <p:spPr>
          <a:xfrm>
            <a:off x="4333875" y="2207559"/>
            <a:ext cx="3567393" cy="2644587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tr-TR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4"/>
          <a:srcRect l="6239" t="2425" r="3511" b="4950"/>
          <a:stretch/>
        </p:blipFill>
        <p:spPr>
          <a:xfrm>
            <a:off x="4402792" y="2283617"/>
            <a:ext cx="3343835" cy="2500315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3F16599-B9A4-42FE-9E0D-7EB766C67E0B}"/>
              </a:ext>
            </a:extLst>
          </p:cNvPr>
          <p:cNvSpPr>
            <a:spLocks noGrp="1"/>
          </p:cNvSpPr>
          <p:nvPr/>
        </p:nvSpPr>
        <p:spPr>
          <a:xfrm>
            <a:off x="8291232" y="2196353"/>
            <a:ext cx="3567393" cy="2644587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tr-T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E024D7-4EF9-4547-BF6E-9F6986D514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8998" y="2294846"/>
            <a:ext cx="3241534" cy="246953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8D1327E-11DD-44D5-A4DF-9B04F3B200F4}"/>
              </a:ext>
            </a:extLst>
          </p:cNvPr>
          <p:cNvSpPr>
            <a:spLocks noGrp="1"/>
          </p:cNvSpPr>
          <p:nvPr/>
        </p:nvSpPr>
        <p:spPr>
          <a:xfrm>
            <a:off x="733445" y="5004383"/>
            <a:ext cx="2619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r-TR" sz="1125" b="1" i="0" dirty="0">
                <a:solidFill>
                  <a:schemeClr val="bg2">
                    <a:lumMod val="10000"/>
                  </a:schemeClr>
                </a:solidFill>
                <a:latin typeface="DejaVu Sans Mono"/>
                <a:ea typeface="DejaVu Sans Mono"/>
                <a:cs typeface="DejaVu Sans Mono"/>
              </a:rPr>
              <a:t>50</a:t>
            </a:r>
            <a:r>
              <a:rPr sz="1125" b="1" i="0" dirty="0">
                <a:solidFill>
                  <a:schemeClr val="bg2">
                    <a:lumMod val="10000"/>
                  </a:schemeClr>
                </a:solidFill>
                <a:latin typeface="DejaVu Sans Mono"/>
                <a:ea typeface="DejaVu Sans Mono"/>
                <a:cs typeface="DejaVu Sans Mono"/>
              </a:rPr>
              <a:t> kHz — </a:t>
            </a:r>
            <a:r>
              <a:rPr lang="tr-TR" sz="1125" b="1" i="0" dirty="0">
                <a:solidFill>
                  <a:schemeClr val="bg2">
                    <a:lumMod val="10000"/>
                  </a:schemeClr>
                </a:solidFill>
                <a:latin typeface="DejaVu Sans Mono"/>
                <a:ea typeface="DejaVu Sans Mono"/>
                <a:cs typeface="DejaVu Sans Mono"/>
              </a:rPr>
              <a:t>en düşük MAE</a:t>
            </a:r>
            <a:endParaRPr sz="1125" b="1" i="0" dirty="0">
              <a:solidFill>
                <a:schemeClr val="bg2">
                  <a:lumMod val="10000"/>
                </a:schemeClr>
              </a:solidFill>
              <a:latin typeface="DejaVu Sans Mono"/>
              <a:ea typeface="DejaVu Sans Mono"/>
              <a:cs typeface="DejaVu Sans Mono"/>
            </a:endParaRPr>
          </a:p>
        </p:txBody>
      </p:sp>
    </p:spTree>
    <p:extLst>
      <p:ext uri="{BB962C8B-B14F-4D97-AF65-F5344CB8AC3E}">
        <p14:creationId xmlns:p14="http://schemas.microsoft.com/office/powerpoint/2010/main" val="1411735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C261E2F-AF6C-443B-86B5-2D8750C1CA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B24EB0-27B0-4874-9AA1-5A92A504A7A4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PARAMETRIK KARŞILAŞTIRMALAR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0D98F8-FE9A-4017-B662-45C6DC42F890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DUT RMS Değerinin Etkisi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8A0757-B7CA-4CA2-926E-6FBBC6A64488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r-TR" sz="1275" b="1" i="0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26</a:t>
            </a:r>
            <a:endParaRPr sz="1275" b="1" i="0" dirty="0">
              <a:solidFill>
                <a:srgbClr val="6B728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22571593-B6FD-4BB7-8DBE-146982E2A364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B20766-1830-4BF4-8DD4-0581B51EE7EF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143800-A6EB-407C-838B-D7396683E0B5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5191125" cy="36671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tr-TR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B8C09E-F0BF-4E20-BA1F-0CD449A6F256}"/>
              </a:ext>
            </a:extLst>
          </p:cNvPr>
          <p:cNvSpPr>
            <a:spLocks noGrp="1"/>
          </p:cNvSpPr>
          <p:nvPr/>
        </p:nvSpPr>
        <p:spPr>
          <a:xfrm>
            <a:off x="6429375" y="1476375"/>
            <a:ext cx="5191125" cy="36671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FE8F83-1112-4FA9-956A-6F79359378D9}"/>
              </a:ext>
            </a:extLst>
          </p:cNvPr>
          <p:cNvSpPr>
            <a:spLocks noGrp="1"/>
          </p:cNvSpPr>
          <p:nvPr/>
        </p:nvSpPr>
        <p:spPr>
          <a:xfrm>
            <a:off x="1143000" y="519112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σDUT = 0,01 rad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94A9C3-44FF-46C3-8542-A99970D42170}"/>
              </a:ext>
            </a:extLst>
          </p:cNvPr>
          <p:cNvSpPr>
            <a:spLocks noGrp="1"/>
          </p:cNvSpPr>
          <p:nvPr/>
        </p:nvSpPr>
        <p:spPr>
          <a:xfrm>
            <a:off x="7000875" y="519112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σDUT = 0,50 rad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566721-3EE0-4BC1-8881-FF74E5D22145}"/>
              </a:ext>
            </a:extLst>
          </p:cNvPr>
          <p:cNvSpPr>
            <a:spLocks noGrp="1"/>
          </p:cNvSpPr>
          <p:nvPr/>
        </p:nvSpPr>
        <p:spPr>
          <a:xfrm>
            <a:off x="1857375" y="5715000"/>
            <a:ext cx="847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6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DUT seviyesi yükseldikçe sonlu iterasyonda referans artığına göre görünürlük artar.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068C2A-255A-47EA-B6C4-A793CE2D0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80" y="1543051"/>
            <a:ext cx="4608634" cy="35242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37C4F5-6863-455B-BB9E-FE1DFE53A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377" y="1569626"/>
            <a:ext cx="4294942" cy="351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0485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87BB2C9-DE70-42A4-ADA3-96A79C0AF1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A0F4FE-1C9C-486E-BAA0-1889449B63EF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PARAMETRIK KARŞILAŞTIRMALAR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33B5A5-2E11-4A64-B58C-76AC2438EE2C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Referans RMS Değerinin Etkisi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0651C6-2947-4C62-AD4E-6F66A37D1F7B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r-TR" sz="1275" b="1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27</a:t>
            </a:r>
            <a:endParaRPr sz="1275" b="1" i="0" dirty="0">
              <a:solidFill>
                <a:srgbClr val="6B728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E0E1BB6-1043-4A42-821E-11CD237B1F8A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DFA2F4-50A6-4DDB-928E-B05E10688BB6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C6629AD-5326-4192-B25A-0C9D544A2B27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5191125" cy="36671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F1BA7C-AD5C-4055-9BB7-6AFCEC9E88C2}"/>
              </a:ext>
            </a:extLst>
          </p:cNvPr>
          <p:cNvSpPr>
            <a:spLocks noGrp="1"/>
          </p:cNvSpPr>
          <p:nvPr/>
        </p:nvSpPr>
        <p:spPr>
          <a:xfrm>
            <a:off x="6429375" y="1476375"/>
            <a:ext cx="5191125" cy="36671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DD640D-4D3B-4F61-A30B-3F44137E682E}"/>
              </a:ext>
            </a:extLst>
          </p:cNvPr>
          <p:cNvSpPr>
            <a:spLocks noGrp="1"/>
          </p:cNvSpPr>
          <p:nvPr/>
        </p:nvSpPr>
        <p:spPr>
          <a:xfrm>
            <a:off x="857250" y="5191125"/>
            <a:ext cx="466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E9B7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 i="0">
                <a:solidFill>
                  <a:srgbClr val="1E9B72"/>
                </a:solidFill>
                <a:latin typeface="DejaVu Sans Mono"/>
                <a:ea typeface="DejaVu Sans Mono"/>
                <a:cs typeface="DejaVu Sans Mono"/>
              </a:rPr>
              <a:t>σREF = 0,01 rad  •  MAE 0,549 dB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BF113-D501-4199-9ED1-10DC6A7CEDC0}"/>
              </a:ext>
            </a:extLst>
          </p:cNvPr>
          <p:cNvSpPr>
            <a:spLocks noGrp="1"/>
          </p:cNvSpPr>
          <p:nvPr/>
        </p:nvSpPr>
        <p:spPr>
          <a:xfrm>
            <a:off x="6667500" y="5191125"/>
            <a:ext cx="466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σREF = 0,50 rad  •  MAE 4,805 dB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CFC55E-E234-498A-8559-B946855ED874}"/>
              </a:ext>
            </a:extLst>
          </p:cNvPr>
          <p:cNvSpPr>
            <a:spLocks noGrp="1"/>
          </p:cNvSpPr>
          <p:nvPr/>
        </p:nvSpPr>
        <p:spPr>
          <a:xfrm>
            <a:off x="1795462" y="5867400"/>
            <a:ext cx="8601075" cy="3174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725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Daha</a:t>
            </a:r>
            <a:r>
              <a:rPr sz="1725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1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gürültülü</a:t>
            </a:r>
            <a:r>
              <a:rPr sz="1725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1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referans</a:t>
            </a:r>
            <a:r>
              <a:rPr sz="1725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1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aynı</a:t>
            </a:r>
            <a:r>
              <a:rPr sz="1725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1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doğruluk</a:t>
            </a:r>
            <a:r>
              <a:rPr sz="1725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1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için</a:t>
            </a:r>
            <a:r>
              <a:rPr sz="1725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1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daha</a:t>
            </a:r>
            <a:r>
              <a:rPr sz="1725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1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fazla</a:t>
            </a:r>
            <a:r>
              <a:rPr sz="1725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 iterasyon </a:t>
            </a:r>
            <a:r>
              <a:rPr sz="1725" b="1" i="0" dirty="0" err="1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ister</a:t>
            </a:r>
            <a:r>
              <a:rPr sz="1725" b="1" i="0" dirty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208469-A4A5-425C-969D-BEE90B2D8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83" y="1555750"/>
            <a:ext cx="4419598" cy="34480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67C2D2-5A53-4ECA-ADB7-9814AB37C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080" y="1568032"/>
            <a:ext cx="4552951" cy="348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09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B1AB5FF-643C-459E-9D57-84AB3CAB24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345ABF-45F9-4D6E-B727-409ACAF99AE3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PARAMETRIK KARŞILAŞTIRMALAR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8444C8-48DE-4FBE-B308-206DB8F7B0B6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Logaritmik Bin Sayısının Etkisi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8A05EB-8EAF-46A0-B669-53D2A5DAE546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r-TR" sz="1275" b="1" dirty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28</a:t>
            </a:r>
            <a:endParaRPr sz="1275" b="1" i="0" dirty="0">
              <a:solidFill>
                <a:srgbClr val="6B728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976CFA5-7FAF-439D-AFA7-CE6C509FCD23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449039-5294-46C3-A8D7-15D9FBB1D91E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7FA579-0AE5-4320-8171-A17AF146234B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5191125" cy="36671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E8A8C3C-8443-4C45-B3BD-1CEA3FAB4C9D}"/>
              </a:ext>
            </a:extLst>
          </p:cNvPr>
          <p:cNvSpPr>
            <a:spLocks noGrp="1"/>
          </p:cNvSpPr>
          <p:nvPr/>
        </p:nvSpPr>
        <p:spPr>
          <a:xfrm>
            <a:off x="6429375" y="1476375"/>
            <a:ext cx="5191125" cy="36671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0635BB-6459-4272-8A3F-C8B16BFA3A34}"/>
              </a:ext>
            </a:extLst>
          </p:cNvPr>
          <p:cNvSpPr>
            <a:spLocks noGrp="1"/>
          </p:cNvSpPr>
          <p:nvPr/>
        </p:nvSpPr>
        <p:spPr>
          <a:xfrm>
            <a:off x="1095375" y="519112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10 bin — daha kaba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EAAF71-7A68-47E2-80D5-719A9CCB63AF}"/>
              </a:ext>
            </a:extLst>
          </p:cNvPr>
          <p:cNvSpPr>
            <a:spLocks noGrp="1"/>
          </p:cNvSpPr>
          <p:nvPr/>
        </p:nvSpPr>
        <p:spPr>
          <a:xfrm>
            <a:off x="6953250" y="519112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200 bin — daha ayrıntılı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EA2EA0-FEAA-4AB4-BE62-C07F3D6AA97D}"/>
              </a:ext>
            </a:extLst>
          </p:cNvPr>
          <p:cNvSpPr>
            <a:spLocks noGrp="1"/>
          </p:cNvSpPr>
          <p:nvPr/>
        </p:nvSpPr>
        <p:spPr>
          <a:xfrm>
            <a:off x="1965098" y="5619750"/>
            <a:ext cx="8261804" cy="514350"/>
          </a:xfrm>
          <a:prstGeom prst="rect">
            <a:avLst/>
          </a:prstGeom>
          <a:solidFill>
            <a:srgbClr val="D8F15A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91DB0A-4CFB-4632-97F5-401010BE63F1}"/>
              </a:ext>
            </a:extLst>
          </p:cNvPr>
          <p:cNvSpPr>
            <a:spLocks noGrp="1"/>
          </p:cNvSpPr>
          <p:nvPr/>
        </p:nvSpPr>
        <p:spPr>
          <a:xfrm>
            <a:off x="2009775" y="5762625"/>
            <a:ext cx="8172450" cy="371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1421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Bin </a:t>
            </a:r>
            <a:r>
              <a:rPr sz="1500" b="1" i="0" dirty="0" err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sayısı</a:t>
            </a:r>
            <a:r>
              <a:rPr sz="1500" b="1" i="0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1" i="0" dirty="0" err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ölçüm</a:t>
            </a:r>
            <a:r>
              <a:rPr sz="1500" b="1" i="0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1" i="0" dirty="0" err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kalitesini</a:t>
            </a:r>
            <a:r>
              <a:rPr sz="1500" b="1" i="0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1" i="0" dirty="0" err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değil</a:t>
            </a:r>
            <a:r>
              <a:rPr sz="1500" b="1" i="0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1500" b="1" i="0" dirty="0" err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spektrumun</a:t>
            </a:r>
            <a:r>
              <a:rPr sz="1500" b="1" i="0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1" i="0" dirty="0" err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nasıl</a:t>
            </a:r>
            <a:r>
              <a:rPr sz="1500" b="1" i="0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1" i="0" dirty="0" err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gözlendiğini</a:t>
            </a:r>
            <a:r>
              <a:rPr sz="1500" b="1" i="0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1" i="0" dirty="0" err="1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değiştirir</a:t>
            </a:r>
            <a:r>
              <a:rPr sz="1500" b="1" i="0" dirty="0">
                <a:solidFill>
                  <a:srgbClr val="14213D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C1F71F-D635-47D4-B8B9-E4ABC4D94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1540476"/>
            <a:ext cx="4313318" cy="34982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3E5C5D-4F66-403F-BFCC-0CB184D35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147" y="1572253"/>
            <a:ext cx="4317492" cy="341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06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293AE3D-B86F-4D96-BB44-DD16C4E56A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1694EC-867A-43D7-9B38-A7CC3C1586D3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İTERASYON YAKINSAMASI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8FA2B7-8068-4B6C-94F7-342D29E0AA0F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İterasyon Yakınsaması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32F5CC-3189-495C-8AE9-AF068E741668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25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3941E07F-E40C-42A0-A44A-DF2C0E3337B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1D2B40-88DA-48F7-BDA3-55CC15BE6A51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1EE959C-EC6B-4B8F-B53F-93A5CC2B8096}"/>
              </a:ext>
            </a:extLst>
          </p:cNvPr>
          <p:cNvSpPr>
            <a:spLocks noGrp="1"/>
          </p:cNvSpPr>
          <p:nvPr/>
        </p:nvSpPr>
        <p:spPr>
          <a:xfrm>
            <a:off x="428625" y="1257300"/>
            <a:ext cx="8667750" cy="504825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F375B9-A707-4DDA-A2C7-EE0484562193}"/>
              </a:ext>
            </a:extLst>
          </p:cNvPr>
          <p:cNvSpPr>
            <a:spLocks noGrp="1"/>
          </p:cNvSpPr>
          <p:nvPr/>
        </p:nvSpPr>
        <p:spPr>
          <a:xfrm>
            <a:off x="9477375" y="15240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6131E9-6A06-48DA-9C44-F660B62C325D}"/>
              </a:ext>
            </a:extLst>
          </p:cNvPr>
          <p:cNvSpPr>
            <a:spLocks noGrp="1"/>
          </p:cNvSpPr>
          <p:nvPr/>
        </p:nvSpPr>
        <p:spPr>
          <a:xfrm>
            <a:off x="9429750" y="1924050"/>
            <a:ext cx="2143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435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FF593C-3E34-47F1-B2B6-92AF6E5100BC}"/>
              </a:ext>
            </a:extLst>
          </p:cNvPr>
          <p:cNvSpPr>
            <a:spLocks noGrp="1"/>
          </p:cNvSpPr>
          <p:nvPr/>
        </p:nvSpPr>
        <p:spPr>
          <a:xfrm>
            <a:off x="9477375" y="2686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35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iterasyon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8FC66DFD-778D-4476-9241-126FD0EA8B49}"/>
              </a:ext>
            </a:extLst>
          </p:cNvPr>
          <p:cNvSpPr>
            <a:spLocks noGrp="1"/>
          </p:cNvSpPr>
          <p:nvPr/>
        </p:nvSpPr>
        <p:spPr>
          <a:xfrm>
            <a:off x="9477375" y="3238500"/>
            <a:ext cx="2095500" cy="0"/>
          </a:xfrm>
          <a:prstGeom prst="line">
            <a:avLst/>
          </a:prstGeom>
          <a:noFill/>
          <a:ln w="14288">
            <a:solidFill>
              <a:srgbClr val="CFC7B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8E503F-1A6B-4254-91DD-B39ABFBBD2BA}"/>
              </a:ext>
            </a:extLst>
          </p:cNvPr>
          <p:cNvSpPr>
            <a:spLocks noGrp="1"/>
          </p:cNvSpPr>
          <p:nvPr/>
        </p:nvSpPr>
        <p:spPr>
          <a:xfrm>
            <a:off x="9477375" y="3524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Tam bant MAE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681B29-D7DF-4C3E-8143-F9801BE949B6}"/>
              </a:ext>
            </a:extLst>
          </p:cNvPr>
          <p:cNvSpPr>
            <a:spLocks noGrp="1"/>
          </p:cNvSpPr>
          <p:nvPr/>
        </p:nvSpPr>
        <p:spPr>
          <a:xfrm>
            <a:off x="9477375" y="388620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285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85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rPr>
              <a:t>16,699 dB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98F59D-F4C4-42AE-8E86-F4A8BDE420D2}"/>
              </a:ext>
            </a:extLst>
          </p:cNvPr>
          <p:cNvSpPr>
            <a:spLocks noGrp="1"/>
          </p:cNvSpPr>
          <p:nvPr/>
        </p:nvSpPr>
        <p:spPr>
          <a:xfrm>
            <a:off x="9429750" y="4619625"/>
            <a:ext cx="2143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3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Referans artığı baskın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3CE43C3D-390A-4EA4-B65F-9C257B739F0E}"/>
              </a:ext>
            </a:extLst>
          </p:cNvPr>
          <p:cNvSpPr>
            <a:spLocks noGrp="1"/>
          </p:cNvSpPr>
          <p:nvPr/>
        </p:nvSpPr>
        <p:spPr>
          <a:xfrm>
            <a:off x="9477375" y="5572125"/>
            <a:ext cx="2095500" cy="0"/>
          </a:xfrm>
          <a:prstGeom prst="line">
            <a:avLst/>
          </a:prstGeom>
          <a:noFill/>
          <a:ln w="19050">
            <a:solidFill>
              <a:srgbClr val="CFC7BA"/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953DA37-A37A-41B3-8855-93B99E4FF997}"/>
              </a:ext>
            </a:extLst>
          </p:cNvPr>
          <p:cNvSpPr>
            <a:spLocks noGrp="1"/>
          </p:cNvSpPr>
          <p:nvPr/>
        </p:nvSpPr>
        <p:spPr>
          <a:xfrm>
            <a:off x="9410700" y="5505450"/>
            <a:ext cx="133350" cy="133350"/>
          </a:xfrm>
          <a:prstGeom prst="ellipse">
            <a:avLst/>
          </a:prstGeom>
          <a:solidFill>
            <a:srgbClr val="F04E35"/>
          </a:solidFill>
          <a:ln w="9525">
            <a:solidFill>
              <a:srgbClr val="F04E35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1CD9A38-F4D4-495F-9439-99D89BFAF1C8}"/>
              </a:ext>
            </a:extLst>
          </p:cNvPr>
          <p:cNvSpPr>
            <a:spLocks noGrp="1"/>
          </p:cNvSpPr>
          <p:nvPr/>
        </p:nvSpPr>
        <p:spPr>
          <a:xfrm>
            <a:off x="9701213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2D9806-1769-495A-93B2-5FD9681D6820}"/>
              </a:ext>
            </a:extLst>
          </p:cNvPr>
          <p:cNvSpPr>
            <a:spLocks noGrp="1"/>
          </p:cNvSpPr>
          <p:nvPr/>
        </p:nvSpPr>
        <p:spPr>
          <a:xfrm>
            <a:off x="9963150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897953-DD3E-4BE2-A4A8-EDECB710D63C}"/>
              </a:ext>
            </a:extLst>
          </p:cNvPr>
          <p:cNvSpPr>
            <a:spLocks noGrp="1"/>
          </p:cNvSpPr>
          <p:nvPr/>
        </p:nvSpPr>
        <p:spPr>
          <a:xfrm>
            <a:off x="10225088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3B34FD9-F6EA-4E94-A3CC-86698BBEEE95}"/>
              </a:ext>
            </a:extLst>
          </p:cNvPr>
          <p:cNvSpPr>
            <a:spLocks noGrp="1"/>
          </p:cNvSpPr>
          <p:nvPr/>
        </p:nvSpPr>
        <p:spPr>
          <a:xfrm>
            <a:off x="10487025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E1D501A-699D-40A0-A080-533857736CFD}"/>
              </a:ext>
            </a:extLst>
          </p:cNvPr>
          <p:cNvSpPr>
            <a:spLocks noGrp="1"/>
          </p:cNvSpPr>
          <p:nvPr/>
        </p:nvSpPr>
        <p:spPr>
          <a:xfrm>
            <a:off x="10748963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F9EDDF8-699D-4A91-BA77-9C34970265BD}"/>
              </a:ext>
            </a:extLst>
          </p:cNvPr>
          <p:cNvSpPr>
            <a:spLocks noGrp="1"/>
          </p:cNvSpPr>
          <p:nvPr/>
        </p:nvSpPr>
        <p:spPr>
          <a:xfrm>
            <a:off x="11010900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25A6034-1BBF-4C31-9068-5226465F009F}"/>
              </a:ext>
            </a:extLst>
          </p:cNvPr>
          <p:cNvSpPr>
            <a:spLocks noGrp="1"/>
          </p:cNvSpPr>
          <p:nvPr/>
        </p:nvSpPr>
        <p:spPr>
          <a:xfrm>
            <a:off x="11272838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B43B77B-CC1B-45A2-B889-E33BAB17CC43}"/>
              </a:ext>
            </a:extLst>
          </p:cNvPr>
          <p:cNvSpPr>
            <a:spLocks noGrp="1"/>
          </p:cNvSpPr>
          <p:nvPr/>
        </p:nvSpPr>
        <p:spPr>
          <a:xfrm>
            <a:off x="11534775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191B0A-36C6-4C52-8A71-54B1BE5629F6}"/>
              </a:ext>
            </a:extLst>
          </p:cNvPr>
          <p:cNvSpPr>
            <a:spLocks noGrp="1"/>
          </p:cNvSpPr>
          <p:nvPr/>
        </p:nvSpPr>
        <p:spPr>
          <a:xfrm>
            <a:off x="9477375" y="58293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tıkla →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6D4742-F4C6-4B87-AE0A-D59D4C734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257" y="1311089"/>
            <a:ext cx="6303402" cy="488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602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41D301D-6130-4051-A748-5EF7628749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31D178-DAB5-4523-A2FC-8666519AEE47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İTERASYON YAKINSAMASI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56CA53-5872-49E1-8C5D-D05089DDD1EE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İterasyon Yakınsaması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553C9C-CC69-428E-BE02-1562122AECDD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26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F3F67558-D3ED-4752-9C57-04ADF2A9F481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2A5809-669B-41AB-B9CC-8B97710FDF9C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67F34F8-2CA0-4D72-8A28-9778AE2203D9}"/>
              </a:ext>
            </a:extLst>
          </p:cNvPr>
          <p:cNvSpPr>
            <a:spLocks noGrp="1"/>
          </p:cNvSpPr>
          <p:nvPr/>
        </p:nvSpPr>
        <p:spPr>
          <a:xfrm>
            <a:off x="428625" y="1257300"/>
            <a:ext cx="8667750" cy="504825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92D58E-CA1A-468B-99E8-9EEF5D5542B4}"/>
              </a:ext>
            </a:extLst>
          </p:cNvPr>
          <p:cNvSpPr>
            <a:spLocks noGrp="1"/>
          </p:cNvSpPr>
          <p:nvPr/>
        </p:nvSpPr>
        <p:spPr>
          <a:xfrm>
            <a:off x="9477375" y="15240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976A4A-71AE-4DA7-93AC-8A130AB730D3}"/>
              </a:ext>
            </a:extLst>
          </p:cNvPr>
          <p:cNvSpPr>
            <a:spLocks noGrp="1"/>
          </p:cNvSpPr>
          <p:nvPr/>
        </p:nvSpPr>
        <p:spPr>
          <a:xfrm>
            <a:off x="9429750" y="1924050"/>
            <a:ext cx="2143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435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rPr>
              <a:t>50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D17DB8-5E63-48BB-9D8D-E0883F30E37B}"/>
              </a:ext>
            </a:extLst>
          </p:cNvPr>
          <p:cNvSpPr>
            <a:spLocks noGrp="1"/>
          </p:cNvSpPr>
          <p:nvPr/>
        </p:nvSpPr>
        <p:spPr>
          <a:xfrm>
            <a:off x="9477375" y="2686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35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iterasyon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60F5066-BA68-4FCF-8FB0-DF033DDF0E94}"/>
              </a:ext>
            </a:extLst>
          </p:cNvPr>
          <p:cNvSpPr>
            <a:spLocks noGrp="1"/>
          </p:cNvSpPr>
          <p:nvPr/>
        </p:nvSpPr>
        <p:spPr>
          <a:xfrm>
            <a:off x="9477375" y="3238500"/>
            <a:ext cx="2095500" cy="0"/>
          </a:xfrm>
          <a:prstGeom prst="line">
            <a:avLst/>
          </a:prstGeom>
          <a:noFill/>
          <a:ln w="14288">
            <a:solidFill>
              <a:srgbClr val="CFC7B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363D99-79FD-431D-AC4B-64510121EBBD}"/>
              </a:ext>
            </a:extLst>
          </p:cNvPr>
          <p:cNvSpPr>
            <a:spLocks noGrp="1"/>
          </p:cNvSpPr>
          <p:nvPr/>
        </p:nvSpPr>
        <p:spPr>
          <a:xfrm>
            <a:off x="9477375" y="3524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Tam bant MAE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4A0212-77F0-44D3-9D3E-D1DEEE3CC95D}"/>
              </a:ext>
            </a:extLst>
          </p:cNvPr>
          <p:cNvSpPr>
            <a:spLocks noGrp="1"/>
          </p:cNvSpPr>
          <p:nvPr/>
        </p:nvSpPr>
        <p:spPr>
          <a:xfrm>
            <a:off x="9477375" y="388620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285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85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rPr>
              <a:t>6,340 dB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1AC857-BE0F-4E6F-96F1-7FB7B6A2C84A}"/>
              </a:ext>
            </a:extLst>
          </p:cNvPr>
          <p:cNvSpPr>
            <a:spLocks noGrp="1"/>
          </p:cNvSpPr>
          <p:nvPr/>
        </p:nvSpPr>
        <p:spPr>
          <a:xfrm>
            <a:off x="9429750" y="4619625"/>
            <a:ext cx="2143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3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Genel eğilim: yaklaşma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6F2B1917-A3F4-4818-B4D9-8A1DD6DF8974}"/>
              </a:ext>
            </a:extLst>
          </p:cNvPr>
          <p:cNvSpPr>
            <a:spLocks noGrp="1"/>
          </p:cNvSpPr>
          <p:nvPr/>
        </p:nvSpPr>
        <p:spPr>
          <a:xfrm>
            <a:off x="9477375" y="5572125"/>
            <a:ext cx="2095500" cy="0"/>
          </a:xfrm>
          <a:prstGeom prst="line">
            <a:avLst/>
          </a:prstGeom>
          <a:noFill/>
          <a:ln w="19050">
            <a:solidFill>
              <a:srgbClr val="CFC7BA"/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C22D499-7B4E-47AB-A798-05C67D7AF989}"/>
              </a:ext>
            </a:extLst>
          </p:cNvPr>
          <p:cNvSpPr>
            <a:spLocks noGrp="1"/>
          </p:cNvSpPr>
          <p:nvPr/>
        </p:nvSpPr>
        <p:spPr>
          <a:xfrm>
            <a:off x="9439275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0C6FD59-F06E-49DC-A2C7-FAE5FAEB0DE8}"/>
              </a:ext>
            </a:extLst>
          </p:cNvPr>
          <p:cNvSpPr>
            <a:spLocks noGrp="1"/>
          </p:cNvSpPr>
          <p:nvPr/>
        </p:nvSpPr>
        <p:spPr>
          <a:xfrm>
            <a:off x="9672638" y="5505450"/>
            <a:ext cx="133350" cy="133350"/>
          </a:xfrm>
          <a:prstGeom prst="ellipse">
            <a:avLst/>
          </a:prstGeom>
          <a:solidFill>
            <a:srgbClr val="F04E35"/>
          </a:solidFill>
          <a:ln w="9525">
            <a:solidFill>
              <a:srgbClr val="F04E35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DE41BD0-D604-4743-BC15-C140D324119E}"/>
              </a:ext>
            </a:extLst>
          </p:cNvPr>
          <p:cNvSpPr>
            <a:spLocks noGrp="1"/>
          </p:cNvSpPr>
          <p:nvPr/>
        </p:nvSpPr>
        <p:spPr>
          <a:xfrm>
            <a:off x="9963150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EF0835-6B05-4DA5-8902-5357C8FC8544}"/>
              </a:ext>
            </a:extLst>
          </p:cNvPr>
          <p:cNvSpPr>
            <a:spLocks noGrp="1"/>
          </p:cNvSpPr>
          <p:nvPr/>
        </p:nvSpPr>
        <p:spPr>
          <a:xfrm>
            <a:off x="10225088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423DFE8-E2B4-41B0-B643-7F89A3735EC0}"/>
              </a:ext>
            </a:extLst>
          </p:cNvPr>
          <p:cNvSpPr>
            <a:spLocks noGrp="1"/>
          </p:cNvSpPr>
          <p:nvPr/>
        </p:nvSpPr>
        <p:spPr>
          <a:xfrm>
            <a:off x="10487025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64E6B8D-E948-4437-8E00-D6A5E224A448}"/>
              </a:ext>
            </a:extLst>
          </p:cNvPr>
          <p:cNvSpPr>
            <a:spLocks noGrp="1"/>
          </p:cNvSpPr>
          <p:nvPr/>
        </p:nvSpPr>
        <p:spPr>
          <a:xfrm>
            <a:off x="10748963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FB3AFD1-79DA-41FB-A779-1567B92F924B}"/>
              </a:ext>
            </a:extLst>
          </p:cNvPr>
          <p:cNvSpPr>
            <a:spLocks noGrp="1"/>
          </p:cNvSpPr>
          <p:nvPr/>
        </p:nvSpPr>
        <p:spPr>
          <a:xfrm>
            <a:off x="11010900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B2451E3-2B13-4F7C-AFF0-1DD282858841}"/>
              </a:ext>
            </a:extLst>
          </p:cNvPr>
          <p:cNvSpPr>
            <a:spLocks noGrp="1"/>
          </p:cNvSpPr>
          <p:nvPr/>
        </p:nvSpPr>
        <p:spPr>
          <a:xfrm>
            <a:off x="11272838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048175F-9CA7-4555-BCE7-1F8B67C987E4}"/>
              </a:ext>
            </a:extLst>
          </p:cNvPr>
          <p:cNvSpPr>
            <a:spLocks noGrp="1"/>
          </p:cNvSpPr>
          <p:nvPr/>
        </p:nvSpPr>
        <p:spPr>
          <a:xfrm>
            <a:off x="11534775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382684-F2E2-42CD-A8DF-97ABEF11713B}"/>
              </a:ext>
            </a:extLst>
          </p:cNvPr>
          <p:cNvSpPr>
            <a:spLocks noGrp="1"/>
          </p:cNvSpPr>
          <p:nvPr/>
        </p:nvSpPr>
        <p:spPr>
          <a:xfrm>
            <a:off x="9477375" y="58293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tıkla →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CF8D4D9-4909-49C0-B0A3-1342AC235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162" y="1336058"/>
            <a:ext cx="6278942" cy="481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1180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D9C2EC0-540F-4B66-BA65-37392C652B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28E2AB-76EE-431A-AB03-B8C158C2A25C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İTERASYON YAKINSAMASI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CB815C-CF07-498D-A3CC-2FA154570058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İterasyon Yakınsaması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8D050D-8053-45EA-9463-13780D55F7A2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27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0A995E67-D431-46B9-891C-27F7AEA75DA6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08EBD7-45B3-4BDA-8294-47DD5C1EFEA1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8622CD-BDAD-43DA-A066-5E90A9C387C8}"/>
              </a:ext>
            </a:extLst>
          </p:cNvPr>
          <p:cNvSpPr>
            <a:spLocks noGrp="1"/>
          </p:cNvSpPr>
          <p:nvPr/>
        </p:nvSpPr>
        <p:spPr>
          <a:xfrm>
            <a:off x="428625" y="1257300"/>
            <a:ext cx="8667750" cy="504825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7BD091-B4DA-4B6A-9F56-0CCF1A5B57DC}"/>
              </a:ext>
            </a:extLst>
          </p:cNvPr>
          <p:cNvSpPr>
            <a:spLocks noGrp="1"/>
          </p:cNvSpPr>
          <p:nvPr/>
        </p:nvSpPr>
        <p:spPr>
          <a:xfrm>
            <a:off x="9477375" y="15240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21E4DF-880F-4AE1-9A68-4C0B76BACBEB}"/>
              </a:ext>
            </a:extLst>
          </p:cNvPr>
          <p:cNvSpPr>
            <a:spLocks noGrp="1"/>
          </p:cNvSpPr>
          <p:nvPr/>
        </p:nvSpPr>
        <p:spPr>
          <a:xfrm>
            <a:off x="9429750" y="1924050"/>
            <a:ext cx="2143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435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rPr>
              <a:t>250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FE1487-1049-459A-96DC-60AD9DEB3147}"/>
              </a:ext>
            </a:extLst>
          </p:cNvPr>
          <p:cNvSpPr>
            <a:spLocks noGrp="1"/>
          </p:cNvSpPr>
          <p:nvPr/>
        </p:nvSpPr>
        <p:spPr>
          <a:xfrm>
            <a:off x="9477375" y="2686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35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iterasyon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5073EE2B-6CB7-492F-927A-E0F28458B756}"/>
              </a:ext>
            </a:extLst>
          </p:cNvPr>
          <p:cNvSpPr>
            <a:spLocks noGrp="1"/>
          </p:cNvSpPr>
          <p:nvPr/>
        </p:nvSpPr>
        <p:spPr>
          <a:xfrm>
            <a:off x="9477375" y="3238500"/>
            <a:ext cx="2095500" cy="0"/>
          </a:xfrm>
          <a:prstGeom prst="line">
            <a:avLst/>
          </a:prstGeom>
          <a:noFill/>
          <a:ln w="14288">
            <a:solidFill>
              <a:srgbClr val="CFC7B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756974-FD64-45FD-B136-E369F9DE1924}"/>
              </a:ext>
            </a:extLst>
          </p:cNvPr>
          <p:cNvSpPr>
            <a:spLocks noGrp="1"/>
          </p:cNvSpPr>
          <p:nvPr/>
        </p:nvSpPr>
        <p:spPr>
          <a:xfrm>
            <a:off x="9477375" y="3524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Tam bant MAE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C1FA3B-9EAF-4DEC-825E-76BFFCA6BAC8}"/>
              </a:ext>
            </a:extLst>
          </p:cNvPr>
          <p:cNvSpPr>
            <a:spLocks noGrp="1"/>
          </p:cNvSpPr>
          <p:nvPr/>
        </p:nvSpPr>
        <p:spPr>
          <a:xfrm>
            <a:off x="9477375" y="388620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285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85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rPr>
              <a:t>2,501 dB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A8DD23-81AF-4BB3-B040-CBD599CE30C2}"/>
              </a:ext>
            </a:extLst>
          </p:cNvPr>
          <p:cNvSpPr>
            <a:spLocks noGrp="1"/>
          </p:cNvSpPr>
          <p:nvPr/>
        </p:nvSpPr>
        <p:spPr>
          <a:xfrm>
            <a:off x="9429750" y="4619625"/>
            <a:ext cx="2143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3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Genel eğilim: yaklaşma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81A1312-4214-4421-B8C0-7FCB84AACC72}"/>
              </a:ext>
            </a:extLst>
          </p:cNvPr>
          <p:cNvSpPr>
            <a:spLocks noGrp="1"/>
          </p:cNvSpPr>
          <p:nvPr/>
        </p:nvSpPr>
        <p:spPr>
          <a:xfrm>
            <a:off x="9477375" y="5572125"/>
            <a:ext cx="2095500" cy="0"/>
          </a:xfrm>
          <a:prstGeom prst="line">
            <a:avLst/>
          </a:prstGeom>
          <a:noFill/>
          <a:ln w="19050">
            <a:solidFill>
              <a:srgbClr val="CFC7BA"/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8032D2F-05F7-4ED2-B856-99554DB5D935}"/>
              </a:ext>
            </a:extLst>
          </p:cNvPr>
          <p:cNvSpPr>
            <a:spLocks noGrp="1"/>
          </p:cNvSpPr>
          <p:nvPr/>
        </p:nvSpPr>
        <p:spPr>
          <a:xfrm>
            <a:off x="9439275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6892024-BF6A-46CC-89E8-2212A51EB6C0}"/>
              </a:ext>
            </a:extLst>
          </p:cNvPr>
          <p:cNvSpPr>
            <a:spLocks noGrp="1"/>
          </p:cNvSpPr>
          <p:nvPr/>
        </p:nvSpPr>
        <p:spPr>
          <a:xfrm>
            <a:off x="9701213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C281FF9-8BA4-4E6F-AB29-BBE89832BF7B}"/>
              </a:ext>
            </a:extLst>
          </p:cNvPr>
          <p:cNvSpPr>
            <a:spLocks noGrp="1"/>
          </p:cNvSpPr>
          <p:nvPr/>
        </p:nvSpPr>
        <p:spPr>
          <a:xfrm>
            <a:off x="9934575" y="5505450"/>
            <a:ext cx="133350" cy="133350"/>
          </a:xfrm>
          <a:prstGeom prst="ellipse">
            <a:avLst/>
          </a:prstGeom>
          <a:solidFill>
            <a:srgbClr val="F04E35"/>
          </a:solidFill>
          <a:ln w="9525">
            <a:solidFill>
              <a:srgbClr val="F04E35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B1300B9-8784-4891-AD2B-CDF3E426B25E}"/>
              </a:ext>
            </a:extLst>
          </p:cNvPr>
          <p:cNvSpPr>
            <a:spLocks noGrp="1"/>
          </p:cNvSpPr>
          <p:nvPr/>
        </p:nvSpPr>
        <p:spPr>
          <a:xfrm>
            <a:off x="10225088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EA91189-8B0C-4731-9675-222BD874E2F4}"/>
              </a:ext>
            </a:extLst>
          </p:cNvPr>
          <p:cNvSpPr>
            <a:spLocks noGrp="1"/>
          </p:cNvSpPr>
          <p:nvPr/>
        </p:nvSpPr>
        <p:spPr>
          <a:xfrm>
            <a:off x="10487025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0FD491A-D4CF-4C8E-87A3-8E75AD6ED7A3}"/>
              </a:ext>
            </a:extLst>
          </p:cNvPr>
          <p:cNvSpPr>
            <a:spLocks noGrp="1"/>
          </p:cNvSpPr>
          <p:nvPr/>
        </p:nvSpPr>
        <p:spPr>
          <a:xfrm>
            <a:off x="10748963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A90A8D9-834D-4CF1-8294-4A7FEFCE9B29}"/>
              </a:ext>
            </a:extLst>
          </p:cNvPr>
          <p:cNvSpPr>
            <a:spLocks noGrp="1"/>
          </p:cNvSpPr>
          <p:nvPr/>
        </p:nvSpPr>
        <p:spPr>
          <a:xfrm>
            <a:off x="11010900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6130CEA-89DA-4882-83CF-EA75F3200374}"/>
              </a:ext>
            </a:extLst>
          </p:cNvPr>
          <p:cNvSpPr>
            <a:spLocks noGrp="1"/>
          </p:cNvSpPr>
          <p:nvPr/>
        </p:nvSpPr>
        <p:spPr>
          <a:xfrm>
            <a:off x="11272838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958978B-0504-4D0D-8850-08D63D788CEB}"/>
              </a:ext>
            </a:extLst>
          </p:cNvPr>
          <p:cNvSpPr>
            <a:spLocks noGrp="1"/>
          </p:cNvSpPr>
          <p:nvPr/>
        </p:nvSpPr>
        <p:spPr>
          <a:xfrm>
            <a:off x="11534775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F707D0-3EC6-422E-94EE-96B733998648}"/>
              </a:ext>
            </a:extLst>
          </p:cNvPr>
          <p:cNvSpPr>
            <a:spLocks noGrp="1"/>
          </p:cNvSpPr>
          <p:nvPr/>
        </p:nvSpPr>
        <p:spPr>
          <a:xfrm>
            <a:off x="9477375" y="58293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tıkla →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A50B349-3041-4956-B62F-22B9C9F54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68" y="1322890"/>
            <a:ext cx="6230013" cy="488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2243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45A8953-05F8-407D-8B66-36956D13D1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C9A246-717E-4A6D-B85E-D64CB38E630D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İTERASYON YAKINSAMASI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472FC7-204A-4AAC-AD25-8E889511CA02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İterasyon Yakınsaması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A033E7-E6CE-42A4-9312-03ED4803D8E1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28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7429B872-3688-46A3-BCAF-AB775CCE52F3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102C53-15CC-47E2-B266-2B8E36CC6B51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45129A-4B05-456F-971D-1CAC8C4970E9}"/>
              </a:ext>
            </a:extLst>
          </p:cNvPr>
          <p:cNvSpPr>
            <a:spLocks noGrp="1"/>
          </p:cNvSpPr>
          <p:nvPr/>
        </p:nvSpPr>
        <p:spPr>
          <a:xfrm>
            <a:off x="428625" y="1257300"/>
            <a:ext cx="8667750" cy="504825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96542E-1727-4CB7-9F52-1414D1EBCB3F}"/>
              </a:ext>
            </a:extLst>
          </p:cNvPr>
          <p:cNvSpPr>
            <a:spLocks noGrp="1"/>
          </p:cNvSpPr>
          <p:nvPr/>
        </p:nvSpPr>
        <p:spPr>
          <a:xfrm>
            <a:off x="9477375" y="15240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C5DF2E-F691-46EE-928B-959C9CCDBD78}"/>
              </a:ext>
            </a:extLst>
          </p:cNvPr>
          <p:cNvSpPr>
            <a:spLocks noGrp="1"/>
          </p:cNvSpPr>
          <p:nvPr/>
        </p:nvSpPr>
        <p:spPr>
          <a:xfrm>
            <a:off x="9429750" y="1924050"/>
            <a:ext cx="2143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435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rPr>
              <a:t>500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1B862E-E11B-498F-BB34-799FD00E3E2F}"/>
              </a:ext>
            </a:extLst>
          </p:cNvPr>
          <p:cNvSpPr>
            <a:spLocks noGrp="1"/>
          </p:cNvSpPr>
          <p:nvPr/>
        </p:nvSpPr>
        <p:spPr>
          <a:xfrm>
            <a:off x="9477375" y="2686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35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iterasyon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B826DCC-A7BA-4DB6-A46B-02E7F607EDF5}"/>
              </a:ext>
            </a:extLst>
          </p:cNvPr>
          <p:cNvSpPr>
            <a:spLocks noGrp="1"/>
          </p:cNvSpPr>
          <p:nvPr/>
        </p:nvSpPr>
        <p:spPr>
          <a:xfrm>
            <a:off x="9477375" y="3238500"/>
            <a:ext cx="2095500" cy="0"/>
          </a:xfrm>
          <a:prstGeom prst="line">
            <a:avLst/>
          </a:prstGeom>
          <a:noFill/>
          <a:ln w="14288">
            <a:solidFill>
              <a:srgbClr val="CFC7B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76A729-6E32-4615-A72A-7D7DF34469B1}"/>
              </a:ext>
            </a:extLst>
          </p:cNvPr>
          <p:cNvSpPr>
            <a:spLocks noGrp="1"/>
          </p:cNvSpPr>
          <p:nvPr/>
        </p:nvSpPr>
        <p:spPr>
          <a:xfrm>
            <a:off x="9477375" y="3524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Tam bant MAE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985E2B-33F3-4EA0-A046-ABFFE9BFDACA}"/>
              </a:ext>
            </a:extLst>
          </p:cNvPr>
          <p:cNvSpPr>
            <a:spLocks noGrp="1"/>
          </p:cNvSpPr>
          <p:nvPr/>
        </p:nvSpPr>
        <p:spPr>
          <a:xfrm>
            <a:off x="9477375" y="388620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285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85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rPr>
              <a:t>3,242 dB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376ED7-8411-4CB5-9971-06F9CE78EC69}"/>
              </a:ext>
            </a:extLst>
          </p:cNvPr>
          <p:cNvSpPr>
            <a:spLocks noGrp="1"/>
          </p:cNvSpPr>
          <p:nvPr/>
        </p:nvSpPr>
        <p:spPr>
          <a:xfrm>
            <a:off x="9429750" y="4619625"/>
            <a:ext cx="2143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3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Genel eğilim: yaklaşma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CF6A5D29-9415-4C36-B896-2B29D4F40FE7}"/>
              </a:ext>
            </a:extLst>
          </p:cNvPr>
          <p:cNvSpPr>
            <a:spLocks noGrp="1"/>
          </p:cNvSpPr>
          <p:nvPr/>
        </p:nvSpPr>
        <p:spPr>
          <a:xfrm>
            <a:off x="9477375" y="5572125"/>
            <a:ext cx="2095500" cy="0"/>
          </a:xfrm>
          <a:prstGeom prst="line">
            <a:avLst/>
          </a:prstGeom>
          <a:noFill/>
          <a:ln w="19050">
            <a:solidFill>
              <a:srgbClr val="CFC7BA"/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185CF41-89EA-48F5-AC67-514AE7960D3F}"/>
              </a:ext>
            </a:extLst>
          </p:cNvPr>
          <p:cNvSpPr>
            <a:spLocks noGrp="1"/>
          </p:cNvSpPr>
          <p:nvPr/>
        </p:nvSpPr>
        <p:spPr>
          <a:xfrm>
            <a:off x="9439275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125185B-2BBF-423C-8F32-55AD5975B33F}"/>
              </a:ext>
            </a:extLst>
          </p:cNvPr>
          <p:cNvSpPr>
            <a:spLocks noGrp="1"/>
          </p:cNvSpPr>
          <p:nvPr/>
        </p:nvSpPr>
        <p:spPr>
          <a:xfrm>
            <a:off x="9701213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B0C7C43-C69B-4F01-8366-143AC9402F1F}"/>
              </a:ext>
            </a:extLst>
          </p:cNvPr>
          <p:cNvSpPr>
            <a:spLocks noGrp="1"/>
          </p:cNvSpPr>
          <p:nvPr/>
        </p:nvSpPr>
        <p:spPr>
          <a:xfrm>
            <a:off x="9963150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8AD73EF-ADBC-4D23-A840-ECD51A5EC19B}"/>
              </a:ext>
            </a:extLst>
          </p:cNvPr>
          <p:cNvSpPr>
            <a:spLocks noGrp="1"/>
          </p:cNvSpPr>
          <p:nvPr/>
        </p:nvSpPr>
        <p:spPr>
          <a:xfrm>
            <a:off x="10196513" y="5505450"/>
            <a:ext cx="133350" cy="133350"/>
          </a:xfrm>
          <a:prstGeom prst="ellipse">
            <a:avLst/>
          </a:prstGeom>
          <a:solidFill>
            <a:srgbClr val="F04E35"/>
          </a:solidFill>
          <a:ln w="9525">
            <a:solidFill>
              <a:srgbClr val="F04E35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62B906F-44FC-4F8C-A186-0E16F951E9A2}"/>
              </a:ext>
            </a:extLst>
          </p:cNvPr>
          <p:cNvSpPr>
            <a:spLocks noGrp="1"/>
          </p:cNvSpPr>
          <p:nvPr/>
        </p:nvSpPr>
        <p:spPr>
          <a:xfrm>
            <a:off x="10487025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2A718E4-C9A0-48B6-9FEE-93D94557A744}"/>
              </a:ext>
            </a:extLst>
          </p:cNvPr>
          <p:cNvSpPr>
            <a:spLocks noGrp="1"/>
          </p:cNvSpPr>
          <p:nvPr/>
        </p:nvSpPr>
        <p:spPr>
          <a:xfrm>
            <a:off x="10748963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D5D1C5-4B17-47B0-B650-3796CC751F16}"/>
              </a:ext>
            </a:extLst>
          </p:cNvPr>
          <p:cNvSpPr>
            <a:spLocks noGrp="1"/>
          </p:cNvSpPr>
          <p:nvPr/>
        </p:nvSpPr>
        <p:spPr>
          <a:xfrm>
            <a:off x="11010900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DD0DF72-6B8D-4986-9B42-30C428282799}"/>
              </a:ext>
            </a:extLst>
          </p:cNvPr>
          <p:cNvSpPr>
            <a:spLocks noGrp="1"/>
          </p:cNvSpPr>
          <p:nvPr/>
        </p:nvSpPr>
        <p:spPr>
          <a:xfrm>
            <a:off x="11272838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C32DBF3-CCB4-4B90-85DF-E9560CA03985}"/>
              </a:ext>
            </a:extLst>
          </p:cNvPr>
          <p:cNvSpPr>
            <a:spLocks noGrp="1"/>
          </p:cNvSpPr>
          <p:nvPr/>
        </p:nvSpPr>
        <p:spPr>
          <a:xfrm>
            <a:off x="11534775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E08FF6-557F-427C-A71A-89600D39A284}"/>
              </a:ext>
            </a:extLst>
          </p:cNvPr>
          <p:cNvSpPr>
            <a:spLocks noGrp="1"/>
          </p:cNvSpPr>
          <p:nvPr/>
        </p:nvSpPr>
        <p:spPr>
          <a:xfrm>
            <a:off x="9477375" y="58293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tıkla →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98F478F-4BE2-475C-A32E-245432F0E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184" y="1305788"/>
            <a:ext cx="6270786" cy="487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0431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63A7285-48E9-4538-9431-2FA27FAB6E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C226CE-B79F-44D1-AC86-DD8C2818E9BB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İTERASYON YAKINSAMASI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7042A3-7ECE-435A-84BC-F1ACF3A785AD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İterasyon Yakınsaması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80D0CE-5300-46B1-B86B-D25E64FE70CF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29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6CF4C379-D11F-45A8-A4AF-36B4A596A7D6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14277-C155-4FFE-B121-57D73802F938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760D6C-2323-494D-9C99-6845A6C4516D}"/>
              </a:ext>
            </a:extLst>
          </p:cNvPr>
          <p:cNvSpPr>
            <a:spLocks noGrp="1"/>
          </p:cNvSpPr>
          <p:nvPr/>
        </p:nvSpPr>
        <p:spPr>
          <a:xfrm>
            <a:off x="428625" y="1257300"/>
            <a:ext cx="8667750" cy="504825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BDB4C0-E56E-47B4-8DB8-216DC92BFA13}"/>
              </a:ext>
            </a:extLst>
          </p:cNvPr>
          <p:cNvSpPr>
            <a:spLocks noGrp="1"/>
          </p:cNvSpPr>
          <p:nvPr/>
        </p:nvSpPr>
        <p:spPr>
          <a:xfrm>
            <a:off x="9477375" y="15240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296827-BAD1-49B4-BD2A-48D38A981379}"/>
              </a:ext>
            </a:extLst>
          </p:cNvPr>
          <p:cNvSpPr>
            <a:spLocks noGrp="1"/>
          </p:cNvSpPr>
          <p:nvPr/>
        </p:nvSpPr>
        <p:spPr>
          <a:xfrm>
            <a:off x="9429750" y="1924050"/>
            <a:ext cx="2143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435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rPr>
              <a:t>1.000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092B34-89A3-4FEA-98A3-33203A1EB079}"/>
              </a:ext>
            </a:extLst>
          </p:cNvPr>
          <p:cNvSpPr>
            <a:spLocks noGrp="1"/>
          </p:cNvSpPr>
          <p:nvPr/>
        </p:nvSpPr>
        <p:spPr>
          <a:xfrm>
            <a:off x="9477375" y="2686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35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iterasyon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9C831202-EFAA-4E7E-BCD8-C0E6DD0E4BFD}"/>
              </a:ext>
            </a:extLst>
          </p:cNvPr>
          <p:cNvSpPr>
            <a:spLocks noGrp="1"/>
          </p:cNvSpPr>
          <p:nvPr/>
        </p:nvSpPr>
        <p:spPr>
          <a:xfrm>
            <a:off x="9477375" y="3238500"/>
            <a:ext cx="2095500" cy="0"/>
          </a:xfrm>
          <a:prstGeom prst="line">
            <a:avLst/>
          </a:prstGeom>
          <a:noFill/>
          <a:ln w="14288">
            <a:solidFill>
              <a:srgbClr val="CFC7B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23B7D6-E521-48F4-8FD2-46D4CA668E92}"/>
              </a:ext>
            </a:extLst>
          </p:cNvPr>
          <p:cNvSpPr>
            <a:spLocks noGrp="1"/>
          </p:cNvSpPr>
          <p:nvPr/>
        </p:nvSpPr>
        <p:spPr>
          <a:xfrm>
            <a:off x="9477375" y="3524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Tam bant MAE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4363DF-2F10-40D3-BB93-B4543B348ED1}"/>
              </a:ext>
            </a:extLst>
          </p:cNvPr>
          <p:cNvSpPr>
            <a:spLocks noGrp="1"/>
          </p:cNvSpPr>
          <p:nvPr/>
        </p:nvSpPr>
        <p:spPr>
          <a:xfrm>
            <a:off x="9477375" y="388620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285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85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rPr>
              <a:t>1,856 dB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09C9AF-3B48-4AF2-8786-C5AB9ACE8400}"/>
              </a:ext>
            </a:extLst>
          </p:cNvPr>
          <p:cNvSpPr>
            <a:spLocks noGrp="1"/>
          </p:cNvSpPr>
          <p:nvPr/>
        </p:nvSpPr>
        <p:spPr>
          <a:xfrm>
            <a:off x="9429750" y="4619625"/>
            <a:ext cx="2143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3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Genel eğilim: yaklaşma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46205AA3-E3A1-4AED-A8BB-31AE71138A24}"/>
              </a:ext>
            </a:extLst>
          </p:cNvPr>
          <p:cNvSpPr>
            <a:spLocks noGrp="1"/>
          </p:cNvSpPr>
          <p:nvPr/>
        </p:nvSpPr>
        <p:spPr>
          <a:xfrm>
            <a:off x="9477375" y="5572125"/>
            <a:ext cx="2095500" cy="0"/>
          </a:xfrm>
          <a:prstGeom prst="line">
            <a:avLst/>
          </a:prstGeom>
          <a:noFill/>
          <a:ln w="19050">
            <a:solidFill>
              <a:srgbClr val="CFC7BA"/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2FCF6A7-BA8E-4806-AD79-D0466D71D9D6}"/>
              </a:ext>
            </a:extLst>
          </p:cNvPr>
          <p:cNvSpPr>
            <a:spLocks noGrp="1"/>
          </p:cNvSpPr>
          <p:nvPr/>
        </p:nvSpPr>
        <p:spPr>
          <a:xfrm>
            <a:off x="9439275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EC44FA9-9135-44CA-928E-93327D15E0E5}"/>
              </a:ext>
            </a:extLst>
          </p:cNvPr>
          <p:cNvSpPr>
            <a:spLocks noGrp="1"/>
          </p:cNvSpPr>
          <p:nvPr/>
        </p:nvSpPr>
        <p:spPr>
          <a:xfrm>
            <a:off x="9701213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C8F16FE-956E-444D-AAC1-C7195B377BAC}"/>
              </a:ext>
            </a:extLst>
          </p:cNvPr>
          <p:cNvSpPr>
            <a:spLocks noGrp="1"/>
          </p:cNvSpPr>
          <p:nvPr/>
        </p:nvSpPr>
        <p:spPr>
          <a:xfrm>
            <a:off x="9963150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C546259-B2F0-4080-92A3-2532DECF69CD}"/>
              </a:ext>
            </a:extLst>
          </p:cNvPr>
          <p:cNvSpPr>
            <a:spLocks noGrp="1"/>
          </p:cNvSpPr>
          <p:nvPr/>
        </p:nvSpPr>
        <p:spPr>
          <a:xfrm>
            <a:off x="10225088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A93CD1B-3A1D-49DA-9270-EC00975A7DD9}"/>
              </a:ext>
            </a:extLst>
          </p:cNvPr>
          <p:cNvSpPr>
            <a:spLocks noGrp="1"/>
          </p:cNvSpPr>
          <p:nvPr/>
        </p:nvSpPr>
        <p:spPr>
          <a:xfrm>
            <a:off x="10458450" y="5505450"/>
            <a:ext cx="133350" cy="133350"/>
          </a:xfrm>
          <a:prstGeom prst="ellipse">
            <a:avLst/>
          </a:prstGeom>
          <a:solidFill>
            <a:srgbClr val="F04E35"/>
          </a:solidFill>
          <a:ln w="9525">
            <a:solidFill>
              <a:srgbClr val="F04E35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C6FF172-2F5C-493C-AABD-7CB04D8D4B2A}"/>
              </a:ext>
            </a:extLst>
          </p:cNvPr>
          <p:cNvSpPr>
            <a:spLocks noGrp="1"/>
          </p:cNvSpPr>
          <p:nvPr/>
        </p:nvSpPr>
        <p:spPr>
          <a:xfrm>
            <a:off x="10748963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C466889-1982-4467-A508-2DFCBC6A169D}"/>
              </a:ext>
            </a:extLst>
          </p:cNvPr>
          <p:cNvSpPr>
            <a:spLocks noGrp="1"/>
          </p:cNvSpPr>
          <p:nvPr/>
        </p:nvSpPr>
        <p:spPr>
          <a:xfrm>
            <a:off x="11010900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C86209-64FF-43C4-BF58-6741FA027740}"/>
              </a:ext>
            </a:extLst>
          </p:cNvPr>
          <p:cNvSpPr>
            <a:spLocks noGrp="1"/>
          </p:cNvSpPr>
          <p:nvPr/>
        </p:nvSpPr>
        <p:spPr>
          <a:xfrm>
            <a:off x="11272838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29DBCDB-3CAC-424D-B999-A6153F870272}"/>
              </a:ext>
            </a:extLst>
          </p:cNvPr>
          <p:cNvSpPr>
            <a:spLocks noGrp="1"/>
          </p:cNvSpPr>
          <p:nvPr/>
        </p:nvSpPr>
        <p:spPr>
          <a:xfrm>
            <a:off x="11534775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A629B1-BB59-417C-BF62-EA2CD744898A}"/>
              </a:ext>
            </a:extLst>
          </p:cNvPr>
          <p:cNvSpPr>
            <a:spLocks noGrp="1"/>
          </p:cNvSpPr>
          <p:nvPr/>
        </p:nvSpPr>
        <p:spPr>
          <a:xfrm>
            <a:off x="9477375" y="58293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tıkla →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A87B7F4-8F35-4B1C-A268-601513CE0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418" y="1345317"/>
            <a:ext cx="6319713" cy="485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9106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89AF2A3-F68E-4FE5-94F1-0B20FB8131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56CE86-DFB0-426F-97A6-30D84A37908E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İTERASYON YAKINSAMASI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682324-4B54-45A3-862A-B836E91FE030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İterasyon Yakınsaması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237D4E-AA81-471C-8081-56957756F981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30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996D8F3-1749-4292-8CF6-0CDE20E9455A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6BE51B-0537-4AD0-9EDF-70ED689BEFA5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5672F5-138B-4E6E-B19F-2239E505F8D1}"/>
              </a:ext>
            </a:extLst>
          </p:cNvPr>
          <p:cNvSpPr>
            <a:spLocks noGrp="1"/>
          </p:cNvSpPr>
          <p:nvPr/>
        </p:nvSpPr>
        <p:spPr>
          <a:xfrm>
            <a:off x="428625" y="1257300"/>
            <a:ext cx="8667750" cy="504825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B1EE35-68F5-483F-AD1C-698AA88C9385}"/>
              </a:ext>
            </a:extLst>
          </p:cNvPr>
          <p:cNvSpPr>
            <a:spLocks noGrp="1"/>
          </p:cNvSpPr>
          <p:nvPr/>
        </p:nvSpPr>
        <p:spPr>
          <a:xfrm>
            <a:off x="9477375" y="15240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A01202-9CD6-479E-8980-D24E52A23500}"/>
              </a:ext>
            </a:extLst>
          </p:cNvPr>
          <p:cNvSpPr>
            <a:spLocks noGrp="1"/>
          </p:cNvSpPr>
          <p:nvPr/>
        </p:nvSpPr>
        <p:spPr>
          <a:xfrm>
            <a:off x="9429750" y="1924050"/>
            <a:ext cx="2143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435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rPr>
              <a:t>2.000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C3EB19-A9E9-46B3-8225-61536700CE05}"/>
              </a:ext>
            </a:extLst>
          </p:cNvPr>
          <p:cNvSpPr>
            <a:spLocks noGrp="1"/>
          </p:cNvSpPr>
          <p:nvPr/>
        </p:nvSpPr>
        <p:spPr>
          <a:xfrm>
            <a:off x="9477375" y="2686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35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iterasyon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E652C59-46E7-4B34-A19D-D64E5D5F0521}"/>
              </a:ext>
            </a:extLst>
          </p:cNvPr>
          <p:cNvSpPr>
            <a:spLocks noGrp="1"/>
          </p:cNvSpPr>
          <p:nvPr/>
        </p:nvSpPr>
        <p:spPr>
          <a:xfrm>
            <a:off x="9477375" y="3238500"/>
            <a:ext cx="2095500" cy="0"/>
          </a:xfrm>
          <a:prstGeom prst="line">
            <a:avLst/>
          </a:prstGeom>
          <a:noFill/>
          <a:ln w="14288">
            <a:solidFill>
              <a:srgbClr val="CFC7B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6A7603-FF4A-4F4E-BF1D-7B0B32E17B37}"/>
              </a:ext>
            </a:extLst>
          </p:cNvPr>
          <p:cNvSpPr>
            <a:spLocks noGrp="1"/>
          </p:cNvSpPr>
          <p:nvPr/>
        </p:nvSpPr>
        <p:spPr>
          <a:xfrm>
            <a:off x="9477375" y="3524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Tam bant MAE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F0CFBE-CE30-4AB9-B60B-E6615E00A1EA}"/>
              </a:ext>
            </a:extLst>
          </p:cNvPr>
          <p:cNvSpPr>
            <a:spLocks noGrp="1"/>
          </p:cNvSpPr>
          <p:nvPr/>
        </p:nvSpPr>
        <p:spPr>
          <a:xfrm>
            <a:off x="9477375" y="388620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285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85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rPr>
              <a:t>2,623 dB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961722-933A-4F02-A182-9A3ECAF5C187}"/>
              </a:ext>
            </a:extLst>
          </p:cNvPr>
          <p:cNvSpPr>
            <a:spLocks noGrp="1"/>
          </p:cNvSpPr>
          <p:nvPr/>
        </p:nvSpPr>
        <p:spPr>
          <a:xfrm>
            <a:off x="9429750" y="4619625"/>
            <a:ext cx="2143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3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Genel eğilim: yaklaşma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6B588F05-8001-4234-A004-7B563EFBB4AF}"/>
              </a:ext>
            </a:extLst>
          </p:cNvPr>
          <p:cNvSpPr>
            <a:spLocks noGrp="1"/>
          </p:cNvSpPr>
          <p:nvPr/>
        </p:nvSpPr>
        <p:spPr>
          <a:xfrm>
            <a:off x="9477375" y="5572125"/>
            <a:ext cx="2095500" cy="0"/>
          </a:xfrm>
          <a:prstGeom prst="line">
            <a:avLst/>
          </a:prstGeom>
          <a:noFill/>
          <a:ln w="19050">
            <a:solidFill>
              <a:srgbClr val="CFC7BA"/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5CCAA2A-0999-4283-8941-365EA7A546B5}"/>
              </a:ext>
            </a:extLst>
          </p:cNvPr>
          <p:cNvSpPr>
            <a:spLocks noGrp="1"/>
          </p:cNvSpPr>
          <p:nvPr/>
        </p:nvSpPr>
        <p:spPr>
          <a:xfrm>
            <a:off x="9439275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164AB06-D1FF-4BC6-B23F-7B0879244BC0}"/>
              </a:ext>
            </a:extLst>
          </p:cNvPr>
          <p:cNvSpPr>
            <a:spLocks noGrp="1"/>
          </p:cNvSpPr>
          <p:nvPr/>
        </p:nvSpPr>
        <p:spPr>
          <a:xfrm>
            <a:off x="9701213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9E96B15-E648-4800-814C-DEF644C4D2E6}"/>
              </a:ext>
            </a:extLst>
          </p:cNvPr>
          <p:cNvSpPr>
            <a:spLocks noGrp="1"/>
          </p:cNvSpPr>
          <p:nvPr/>
        </p:nvSpPr>
        <p:spPr>
          <a:xfrm>
            <a:off x="9963150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44E6B6A-D639-4901-9E42-2DD14818DCB8}"/>
              </a:ext>
            </a:extLst>
          </p:cNvPr>
          <p:cNvSpPr>
            <a:spLocks noGrp="1"/>
          </p:cNvSpPr>
          <p:nvPr/>
        </p:nvSpPr>
        <p:spPr>
          <a:xfrm>
            <a:off x="10225088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0632154-0424-4CCD-925A-948EB3EB4ACB}"/>
              </a:ext>
            </a:extLst>
          </p:cNvPr>
          <p:cNvSpPr>
            <a:spLocks noGrp="1"/>
          </p:cNvSpPr>
          <p:nvPr/>
        </p:nvSpPr>
        <p:spPr>
          <a:xfrm>
            <a:off x="10487025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09BA518-2D00-4B6A-B600-55A4F029D275}"/>
              </a:ext>
            </a:extLst>
          </p:cNvPr>
          <p:cNvSpPr>
            <a:spLocks noGrp="1"/>
          </p:cNvSpPr>
          <p:nvPr/>
        </p:nvSpPr>
        <p:spPr>
          <a:xfrm>
            <a:off x="10720388" y="5505450"/>
            <a:ext cx="133350" cy="133350"/>
          </a:xfrm>
          <a:prstGeom prst="ellipse">
            <a:avLst/>
          </a:prstGeom>
          <a:solidFill>
            <a:srgbClr val="F04E35"/>
          </a:solidFill>
          <a:ln w="9525">
            <a:solidFill>
              <a:srgbClr val="F04E35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E950D3E-4B5B-42F4-881E-5C0E37D45183}"/>
              </a:ext>
            </a:extLst>
          </p:cNvPr>
          <p:cNvSpPr>
            <a:spLocks noGrp="1"/>
          </p:cNvSpPr>
          <p:nvPr/>
        </p:nvSpPr>
        <p:spPr>
          <a:xfrm>
            <a:off x="11010900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7520F7B-97C4-4A84-91AC-A112E77BB7D6}"/>
              </a:ext>
            </a:extLst>
          </p:cNvPr>
          <p:cNvSpPr>
            <a:spLocks noGrp="1"/>
          </p:cNvSpPr>
          <p:nvPr/>
        </p:nvSpPr>
        <p:spPr>
          <a:xfrm>
            <a:off x="11272838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36264C0-B7C3-42BF-B790-CEEEF54B9324}"/>
              </a:ext>
            </a:extLst>
          </p:cNvPr>
          <p:cNvSpPr>
            <a:spLocks noGrp="1"/>
          </p:cNvSpPr>
          <p:nvPr/>
        </p:nvSpPr>
        <p:spPr>
          <a:xfrm>
            <a:off x="11534775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0AEA3F3-479F-4942-AC19-BB51663CB77D}"/>
              </a:ext>
            </a:extLst>
          </p:cNvPr>
          <p:cNvSpPr>
            <a:spLocks noGrp="1"/>
          </p:cNvSpPr>
          <p:nvPr/>
        </p:nvSpPr>
        <p:spPr>
          <a:xfrm>
            <a:off x="9477375" y="58293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tıkla →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764CBC2-A970-460E-994F-B9F0CFB62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891" y="1371636"/>
            <a:ext cx="6205550" cy="476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4993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AEB13DF-7965-42FC-8228-39C3780F7C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8382F6-E1F9-49BA-8E93-7DD89DB035FE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İTERASYON YAKINSAMASI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7141EA-275C-4704-8378-6861ABF2E595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İterasyon Yakınsaması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4CF1DC-9408-449D-B5CE-9A3B266B4AD6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31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D6339D62-BDFC-4BBE-B51B-CE40C724509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FD07F7-D4EA-4C99-87C0-FB8846C936C8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A465D2-0832-41FA-B090-6A723121521F}"/>
              </a:ext>
            </a:extLst>
          </p:cNvPr>
          <p:cNvSpPr>
            <a:spLocks noGrp="1"/>
          </p:cNvSpPr>
          <p:nvPr/>
        </p:nvSpPr>
        <p:spPr>
          <a:xfrm>
            <a:off x="428625" y="1257300"/>
            <a:ext cx="8667750" cy="504825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14E091-608C-489F-BEB4-0E7EEBCE042A}"/>
              </a:ext>
            </a:extLst>
          </p:cNvPr>
          <p:cNvSpPr>
            <a:spLocks noGrp="1"/>
          </p:cNvSpPr>
          <p:nvPr/>
        </p:nvSpPr>
        <p:spPr>
          <a:xfrm>
            <a:off x="9477375" y="15240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F092FB-11C6-4AA5-94AC-B0B46B2D66E8}"/>
              </a:ext>
            </a:extLst>
          </p:cNvPr>
          <p:cNvSpPr>
            <a:spLocks noGrp="1"/>
          </p:cNvSpPr>
          <p:nvPr/>
        </p:nvSpPr>
        <p:spPr>
          <a:xfrm>
            <a:off x="9429750" y="1924050"/>
            <a:ext cx="2143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435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rPr>
              <a:t>5.000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570923-417A-4C34-BDC7-F631B8E61620}"/>
              </a:ext>
            </a:extLst>
          </p:cNvPr>
          <p:cNvSpPr>
            <a:spLocks noGrp="1"/>
          </p:cNvSpPr>
          <p:nvPr/>
        </p:nvSpPr>
        <p:spPr>
          <a:xfrm>
            <a:off x="9477375" y="2686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35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iterasyon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2F403F3D-F6D4-4FAC-A175-FAAC92BB5B3F}"/>
              </a:ext>
            </a:extLst>
          </p:cNvPr>
          <p:cNvSpPr>
            <a:spLocks noGrp="1"/>
          </p:cNvSpPr>
          <p:nvPr/>
        </p:nvSpPr>
        <p:spPr>
          <a:xfrm>
            <a:off x="9477375" y="3238500"/>
            <a:ext cx="2095500" cy="0"/>
          </a:xfrm>
          <a:prstGeom prst="line">
            <a:avLst/>
          </a:prstGeom>
          <a:noFill/>
          <a:ln w="14288">
            <a:solidFill>
              <a:srgbClr val="CFC7B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3F2771-6802-48F8-9A7E-68D8ECA5C1C2}"/>
              </a:ext>
            </a:extLst>
          </p:cNvPr>
          <p:cNvSpPr>
            <a:spLocks noGrp="1"/>
          </p:cNvSpPr>
          <p:nvPr/>
        </p:nvSpPr>
        <p:spPr>
          <a:xfrm>
            <a:off x="9477375" y="3524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Tam bant MAE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4204B1-04E4-457F-AD8C-DB19EDDC8E52}"/>
              </a:ext>
            </a:extLst>
          </p:cNvPr>
          <p:cNvSpPr>
            <a:spLocks noGrp="1"/>
          </p:cNvSpPr>
          <p:nvPr/>
        </p:nvSpPr>
        <p:spPr>
          <a:xfrm>
            <a:off x="9477375" y="388620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285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85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rPr>
              <a:t>1,259 dB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FE5F14-575D-4275-811E-5A6086E03B5B}"/>
              </a:ext>
            </a:extLst>
          </p:cNvPr>
          <p:cNvSpPr>
            <a:spLocks noGrp="1"/>
          </p:cNvSpPr>
          <p:nvPr/>
        </p:nvSpPr>
        <p:spPr>
          <a:xfrm>
            <a:off x="9429750" y="4619625"/>
            <a:ext cx="2143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3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Genel eğilim: yaklaşma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4EA2078-5F7B-4400-BACD-4D99071608FB}"/>
              </a:ext>
            </a:extLst>
          </p:cNvPr>
          <p:cNvSpPr>
            <a:spLocks noGrp="1"/>
          </p:cNvSpPr>
          <p:nvPr/>
        </p:nvSpPr>
        <p:spPr>
          <a:xfrm>
            <a:off x="9477375" y="5572125"/>
            <a:ext cx="2095500" cy="0"/>
          </a:xfrm>
          <a:prstGeom prst="line">
            <a:avLst/>
          </a:prstGeom>
          <a:noFill/>
          <a:ln w="19050">
            <a:solidFill>
              <a:srgbClr val="CFC7BA"/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19BAFE6-E87E-470C-B414-8FBF610FD521}"/>
              </a:ext>
            </a:extLst>
          </p:cNvPr>
          <p:cNvSpPr>
            <a:spLocks noGrp="1"/>
          </p:cNvSpPr>
          <p:nvPr/>
        </p:nvSpPr>
        <p:spPr>
          <a:xfrm>
            <a:off x="9439275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EE9C17-4D0B-4E3B-8436-9B4B9886E91C}"/>
              </a:ext>
            </a:extLst>
          </p:cNvPr>
          <p:cNvSpPr>
            <a:spLocks noGrp="1"/>
          </p:cNvSpPr>
          <p:nvPr/>
        </p:nvSpPr>
        <p:spPr>
          <a:xfrm>
            <a:off x="9701213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D422E90-25E3-4831-9705-517A798DAA2E}"/>
              </a:ext>
            </a:extLst>
          </p:cNvPr>
          <p:cNvSpPr>
            <a:spLocks noGrp="1"/>
          </p:cNvSpPr>
          <p:nvPr/>
        </p:nvSpPr>
        <p:spPr>
          <a:xfrm>
            <a:off x="9963150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DE9D78-A393-4CEA-9005-63FA25A19C89}"/>
              </a:ext>
            </a:extLst>
          </p:cNvPr>
          <p:cNvSpPr>
            <a:spLocks noGrp="1"/>
          </p:cNvSpPr>
          <p:nvPr/>
        </p:nvSpPr>
        <p:spPr>
          <a:xfrm>
            <a:off x="10225088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31535CF-6902-49E4-B55A-8DC5A2B45856}"/>
              </a:ext>
            </a:extLst>
          </p:cNvPr>
          <p:cNvSpPr>
            <a:spLocks noGrp="1"/>
          </p:cNvSpPr>
          <p:nvPr/>
        </p:nvSpPr>
        <p:spPr>
          <a:xfrm>
            <a:off x="10487025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433B1FE-E0AA-46B6-A4F6-3C402A4CB3C8}"/>
              </a:ext>
            </a:extLst>
          </p:cNvPr>
          <p:cNvSpPr>
            <a:spLocks noGrp="1"/>
          </p:cNvSpPr>
          <p:nvPr/>
        </p:nvSpPr>
        <p:spPr>
          <a:xfrm>
            <a:off x="10748963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F9E313A-9AF4-4DFA-8265-2D9288A0C378}"/>
              </a:ext>
            </a:extLst>
          </p:cNvPr>
          <p:cNvSpPr>
            <a:spLocks noGrp="1"/>
          </p:cNvSpPr>
          <p:nvPr/>
        </p:nvSpPr>
        <p:spPr>
          <a:xfrm>
            <a:off x="10982325" y="5505450"/>
            <a:ext cx="133350" cy="133350"/>
          </a:xfrm>
          <a:prstGeom prst="ellipse">
            <a:avLst/>
          </a:prstGeom>
          <a:solidFill>
            <a:srgbClr val="F04E35"/>
          </a:solidFill>
          <a:ln w="9525">
            <a:solidFill>
              <a:srgbClr val="F04E35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FAE6A06-1B93-4B1A-90ED-E127ECC64E20}"/>
              </a:ext>
            </a:extLst>
          </p:cNvPr>
          <p:cNvSpPr>
            <a:spLocks noGrp="1"/>
          </p:cNvSpPr>
          <p:nvPr/>
        </p:nvSpPr>
        <p:spPr>
          <a:xfrm>
            <a:off x="11272838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5647637-CF47-4875-BFB5-CFAC7F908E79}"/>
              </a:ext>
            </a:extLst>
          </p:cNvPr>
          <p:cNvSpPr>
            <a:spLocks noGrp="1"/>
          </p:cNvSpPr>
          <p:nvPr/>
        </p:nvSpPr>
        <p:spPr>
          <a:xfrm>
            <a:off x="11534775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8E2168-FB0D-4605-8C0D-698653CBCBFA}"/>
              </a:ext>
            </a:extLst>
          </p:cNvPr>
          <p:cNvSpPr>
            <a:spLocks noGrp="1"/>
          </p:cNvSpPr>
          <p:nvPr/>
        </p:nvSpPr>
        <p:spPr>
          <a:xfrm>
            <a:off x="9477375" y="58293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tıkla →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5A89972-3568-48CC-9D7A-BEDDF2535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173" y="1357460"/>
            <a:ext cx="6262632" cy="483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911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43B82FC-F08D-46C7-9677-B3DDCDDB40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B7481E-F4ED-4423-984C-19E7F4FDF19D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İTERASYON YAKINSAMASI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F8344F-642A-4D79-92B5-5072CEFE6874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İterasyon Yakınsaması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5DE338-0F62-4D0D-B4E1-A64F541E0814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32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1D13F2F-07F7-4717-814A-74283EF03B8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94310-4FF1-48D6-8F1D-0215051AD2CA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673154-6A11-4745-8FBB-EB9300E8357B}"/>
              </a:ext>
            </a:extLst>
          </p:cNvPr>
          <p:cNvSpPr>
            <a:spLocks noGrp="1"/>
          </p:cNvSpPr>
          <p:nvPr/>
        </p:nvSpPr>
        <p:spPr>
          <a:xfrm>
            <a:off x="428625" y="1257300"/>
            <a:ext cx="8667750" cy="504825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B9C221-C7D7-4889-914A-97343A277C07}"/>
              </a:ext>
            </a:extLst>
          </p:cNvPr>
          <p:cNvSpPr>
            <a:spLocks noGrp="1"/>
          </p:cNvSpPr>
          <p:nvPr/>
        </p:nvSpPr>
        <p:spPr>
          <a:xfrm>
            <a:off x="9477375" y="15240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449F66-FE76-455C-B6EF-C17EE8DB433D}"/>
              </a:ext>
            </a:extLst>
          </p:cNvPr>
          <p:cNvSpPr>
            <a:spLocks noGrp="1"/>
          </p:cNvSpPr>
          <p:nvPr/>
        </p:nvSpPr>
        <p:spPr>
          <a:xfrm>
            <a:off x="9172576" y="1924050"/>
            <a:ext cx="2400299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4350" b="1" i="0" dirty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rPr>
              <a:t>10.000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DCD911-ADAB-45A4-97E4-ACF3A5AA6DF4}"/>
              </a:ext>
            </a:extLst>
          </p:cNvPr>
          <p:cNvSpPr>
            <a:spLocks noGrp="1"/>
          </p:cNvSpPr>
          <p:nvPr/>
        </p:nvSpPr>
        <p:spPr>
          <a:xfrm>
            <a:off x="9477375" y="2686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35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iterasyon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8AD86AAD-EC51-403C-BEA2-012113DB4F7F}"/>
              </a:ext>
            </a:extLst>
          </p:cNvPr>
          <p:cNvSpPr>
            <a:spLocks noGrp="1"/>
          </p:cNvSpPr>
          <p:nvPr/>
        </p:nvSpPr>
        <p:spPr>
          <a:xfrm>
            <a:off x="9477375" y="3238500"/>
            <a:ext cx="2095500" cy="0"/>
          </a:xfrm>
          <a:prstGeom prst="line">
            <a:avLst/>
          </a:prstGeom>
          <a:noFill/>
          <a:ln w="14288">
            <a:solidFill>
              <a:srgbClr val="CFC7B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9DED3E-88E2-49EF-B07C-3D0372E1087C}"/>
              </a:ext>
            </a:extLst>
          </p:cNvPr>
          <p:cNvSpPr>
            <a:spLocks noGrp="1"/>
          </p:cNvSpPr>
          <p:nvPr/>
        </p:nvSpPr>
        <p:spPr>
          <a:xfrm>
            <a:off x="9477375" y="3524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Tam bant MAE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D3B6B4-C864-47F0-B70F-A8CDF27BCD1C}"/>
              </a:ext>
            </a:extLst>
          </p:cNvPr>
          <p:cNvSpPr>
            <a:spLocks noGrp="1"/>
          </p:cNvSpPr>
          <p:nvPr/>
        </p:nvSpPr>
        <p:spPr>
          <a:xfrm>
            <a:off x="9477375" y="388620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285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850" b="1" i="0">
                <a:solidFill>
                  <a:srgbClr val="1769D2"/>
                </a:solidFill>
                <a:latin typeface="DejaVu Sans Condensed"/>
                <a:ea typeface="DejaVu Sans Condensed"/>
                <a:cs typeface="DejaVu Sans Condensed"/>
              </a:rPr>
              <a:t>1,297 dB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DF5C02-F454-45F0-875E-57C8BAD29F4B}"/>
              </a:ext>
            </a:extLst>
          </p:cNvPr>
          <p:cNvSpPr>
            <a:spLocks noGrp="1"/>
          </p:cNvSpPr>
          <p:nvPr/>
        </p:nvSpPr>
        <p:spPr>
          <a:xfrm>
            <a:off x="9429750" y="4619625"/>
            <a:ext cx="2143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3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Genel eğilim: yaklaşma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34568546-0649-46B0-868A-37BC586C51A6}"/>
              </a:ext>
            </a:extLst>
          </p:cNvPr>
          <p:cNvSpPr>
            <a:spLocks noGrp="1"/>
          </p:cNvSpPr>
          <p:nvPr/>
        </p:nvSpPr>
        <p:spPr>
          <a:xfrm>
            <a:off x="9477375" y="5572125"/>
            <a:ext cx="2095500" cy="0"/>
          </a:xfrm>
          <a:prstGeom prst="line">
            <a:avLst/>
          </a:prstGeom>
          <a:noFill/>
          <a:ln w="19050">
            <a:solidFill>
              <a:srgbClr val="CFC7BA"/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56B9D1D-8BED-43C5-8D9A-FBB6C46016EC}"/>
              </a:ext>
            </a:extLst>
          </p:cNvPr>
          <p:cNvSpPr>
            <a:spLocks noGrp="1"/>
          </p:cNvSpPr>
          <p:nvPr/>
        </p:nvSpPr>
        <p:spPr>
          <a:xfrm>
            <a:off x="9439275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A4F793A-C28A-4255-8F32-3DAACCA631BB}"/>
              </a:ext>
            </a:extLst>
          </p:cNvPr>
          <p:cNvSpPr>
            <a:spLocks noGrp="1"/>
          </p:cNvSpPr>
          <p:nvPr/>
        </p:nvSpPr>
        <p:spPr>
          <a:xfrm>
            <a:off x="9701213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0962E63-3D90-44A9-8361-C7D27FDD4CB9}"/>
              </a:ext>
            </a:extLst>
          </p:cNvPr>
          <p:cNvSpPr>
            <a:spLocks noGrp="1"/>
          </p:cNvSpPr>
          <p:nvPr/>
        </p:nvSpPr>
        <p:spPr>
          <a:xfrm>
            <a:off x="9963150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9992CAA-343B-42A0-AD0F-D28096F051E5}"/>
              </a:ext>
            </a:extLst>
          </p:cNvPr>
          <p:cNvSpPr>
            <a:spLocks noGrp="1"/>
          </p:cNvSpPr>
          <p:nvPr/>
        </p:nvSpPr>
        <p:spPr>
          <a:xfrm>
            <a:off x="10225088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D1731C3-8917-46EE-A17E-4BF41A0CC4E0}"/>
              </a:ext>
            </a:extLst>
          </p:cNvPr>
          <p:cNvSpPr>
            <a:spLocks noGrp="1"/>
          </p:cNvSpPr>
          <p:nvPr/>
        </p:nvSpPr>
        <p:spPr>
          <a:xfrm>
            <a:off x="10487025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DD026ED-47AB-4651-89EF-1B5B75DE8C0E}"/>
              </a:ext>
            </a:extLst>
          </p:cNvPr>
          <p:cNvSpPr>
            <a:spLocks noGrp="1"/>
          </p:cNvSpPr>
          <p:nvPr/>
        </p:nvSpPr>
        <p:spPr>
          <a:xfrm>
            <a:off x="10748963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3613C73-8122-454C-B3B7-D00BEC7003A8}"/>
              </a:ext>
            </a:extLst>
          </p:cNvPr>
          <p:cNvSpPr>
            <a:spLocks noGrp="1"/>
          </p:cNvSpPr>
          <p:nvPr/>
        </p:nvSpPr>
        <p:spPr>
          <a:xfrm>
            <a:off x="11010900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A75CE36-F525-4102-AEF5-A28E4140450E}"/>
              </a:ext>
            </a:extLst>
          </p:cNvPr>
          <p:cNvSpPr>
            <a:spLocks noGrp="1"/>
          </p:cNvSpPr>
          <p:nvPr/>
        </p:nvSpPr>
        <p:spPr>
          <a:xfrm>
            <a:off x="11244263" y="5505450"/>
            <a:ext cx="133350" cy="133350"/>
          </a:xfrm>
          <a:prstGeom prst="ellipse">
            <a:avLst/>
          </a:prstGeom>
          <a:solidFill>
            <a:srgbClr val="F04E35"/>
          </a:solidFill>
          <a:ln w="9525">
            <a:solidFill>
              <a:srgbClr val="F04E35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96C43E3-A0E1-41AD-A5D0-F0DEA3502D18}"/>
              </a:ext>
            </a:extLst>
          </p:cNvPr>
          <p:cNvSpPr>
            <a:spLocks noGrp="1"/>
          </p:cNvSpPr>
          <p:nvPr/>
        </p:nvSpPr>
        <p:spPr>
          <a:xfrm>
            <a:off x="11534775" y="5534025"/>
            <a:ext cx="76200" cy="76200"/>
          </a:xfrm>
          <a:prstGeom prst="ellipse">
            <a:avLst/>
          </a:prstGeom>
          <a:solidFill>
            <a:srgbClr val="ECE5D8"/>
          </a:solidFill>
          <a:ln w="9525">
            <a:solidFill>
              <a:srgbClr val="CFC7B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9A0D4A-C380-408F-AA7C-39A4E575704F}"/>
              </a:ext>
            </a:extLst>
          </p:cNvPr>
          <p:cNvSpPr>
            <a:spLocks noGrp="1"/>
          </p:cNvSpPr>
          <p:nvPr/>
        </p:nvSpPr>
        <p:spPr>
          <a:xfrm>
            <a:off x="9477375" y="58293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tıkla →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3403EFC-5EE2-4B7B-8779-E964BE92A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299" y="1328250"/>
            <a:ext cx="6295249" cy="483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024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5C9F16F-344A-4E78-AB2E-C388B3015A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0C408B-C775-41EA-A994-E533F808CF65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İTERASYON YAKINSAMASI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F95413-62D6-4407-B47E-EBA393507FB3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İterasyon Yakınsaması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478770-BAFF-4247-8D1C-F802D7B8B1DE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33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F693E578-F989-4947-8720-BAA09335AF4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B90826-46DF-4F77-A810-3EB546761E77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4993D44-4F42-4D26-8FAC-6C1E44F4252B}"/>
              </a:ext>
            </a:extLst>
          </p:cNvPr>
          <p:cNvSpPr>
            <a:spLocks noGrp="1"/>
          </p:cNvSpPr>
          <p:nvPr/>
        </p:nvSpPr>
        <p:spPr>
          <a:xfrm>
            <a:off x="428625" y="1257300"/>
            <a:ext cx="8667750" cy="504825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3C7239-47FF-4CDD-B3F6-C1B7CD178F11}"/>
              </a:ext>
            </a:extLst>
          </p:cNvPr>
          <p:cNvSpPr>
            <a:spLocks noGrp="1"/>
          </p:cNvSpPr>
          <p:nvPr/>
        </p:nvSpPr>
        <p:spPr>
          <a:xfrm>
            <a:off x="9477375" y="15240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CB6BB-0AC8-4027-AFD6-B6A40BCDB272}"/>
              </a:ext>
            </a:extLst>
          </p:cNvPr>
          <p:cNvSpPr>
            <a:spLocks noGrp="1"/>
          </p:cNvSpPr>
          <p:nvPr/>
        </p:nvSpPr>
        <p:spPr>
          <a:xfrm>
            <a:off x="9410700" y="1924050"/>
            <a:ext cx="21621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4350" b="1" i="0" dirty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rPr>
              <a:t>20.000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19740C-8E23-414A-ADD1-6349436B5C57}"/>
              </a:ext>
            </a:extLst>
          </p:cNvPr>
          <p:cNvSpPr>
            <a:spLocks noGrp="1"/>
          </p:cNvSpPr>
          <p:nvPr/>
        </p:nvSpPr>
        <p:spPr>
          <a:xfrm>
            <a:off x="9477375" y="2686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35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iterasyon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A9BB74C-8151-4CFC-AF41-93DDC652C3BE}"/>
              </a:ext>
            </a:extLst>
          </p:cNvPr>
          <p:cNvSpPr>
            <a:spLocks noGrp="1"/>
          </p:cNvSpPr>
          <p:nvPr/>
        </p:nvSpPr>
        <p:spPr>
          <a:xfrm>
            <a:off x="9477375" y="3238500"/>
            <a:ext cx="2095500" cy="0"/>
          </a:xfrm>
          <a:prstGeom prst="line">
            <a:avLst/>
          </a:prstGeom>
          <a:noFill/>
          <a:ln w="14288">
            <a:solidFill>
              <a:srgbClr val="CFC7B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B0502D-99CA-4F39-819F-FBBBFC2771C4}"/>
              </a:ext>
            </a:extLst>
          </p:cNvPr>
          <p:cNvSpPr>
            <a:spLocks noGrp="1"/>
          </p:cNvSpPr>
          <p:nvPr/>
        </p:nvSpPr>
        <p:spPr>
          <a:xfrm>
            <a:off x="9477375" y="3524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Tam bant MAE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917708-B8DF-41F9-A0AB-ED27618363F1}"/>
              </a:ext>
            </a:extLst>
          </p:cNvPr>
          <p:cNvSpPr>
            <a:spLocks noGrp="1"/>
          </p:cNvSpPr>
          <p:nvPr/>
        </p:nvSpPr>
        <p:spPr>
          <a:xfrm>
            <a:off x="9477375" y="388620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2850" b="1" i="0">
                <a:solidFill>
                  <a:srgbClr val="1E9B72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2850" b="1" i="0">
                <a:solidFill>
                  <a:srgbClr val="1E9B72"/>
                </a:solidFill>
                <a:latin typeface="DejaVu Sans Condensed"/>
                <a:ea typeface="DejaVu Sans Condensed"/>
                <a:cs typeface="DejaVu Sans Condensed"/>
              </a:rPr>
              <a:t>0,845 dB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61AA4C-27D9-42C3-9480-3A01E538C203}"/>
              </a:ext>
            </a:extLst>
          </p:cNvPr>
          <p:cNvSpPr>
            <a:spLocks noGrp="1"/>
          </p:cNvSpPr>
          <p:nvPr/>
        </p:nvSpPr>
        <p:spPr>
          <a:xfrm>
            <a:off x="9429750" y="4619625"/>
            <a:ext cx="2143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3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DUT eğrisi belirgin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40F909A9-77C5-4E5A-831A-996178EA6106}"/>
              </a:ext>
            </a:extLst>
          </p:cNvPr>
          <p:cNvSpPr>
            <a:spLocks noGrp="1"/>
          </p:cNvSpPr>
          <p:nvPr/>
        </p:nvSpPr>
        <p:spPr>
          <a:xfrm>
            <a:off x="9477375" y="5572125"/>
            <a:ext cx="2095500" cy="0"/>
          </a:xfrm>
          <a:prstGeom prst="line">
            <a:avLst/>
          </a:prstGeom>
          <a:noFill/>
          <a:ln w="19050">
            <a:solidFill>
              <a:srgbClr val="CFC7BA"/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DC604AB-71A2-4767-A54A-F35C4FBC6D9E}"/>
              </a:ext>
            </a:extLst>
          </p:cNvPr>
          <p:cNvSpPr>
            <a:spLocks noGrp="1"/>
          </p:cNvSpPr>
          <p:nvPr/>
        </p:nvSpPr>
        <p:spPr>
          <a:xfrm>
            <a:off x="9439275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F88550C-13D8-4750-A324-AAE436E7D547}"/>
              </a:ext>
            </a:extLst>
          </p:cNvPr>
          <p:cNvSpPr>
            <a:spLocks noGrp="1"/>
          </p:cNvSpPr>
          <p:nvPr/>
        </p:nvSpPr>
        <p:spPr>
          <a:xfrm>
            <a:off x="9701213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9137B31-AE11-41CF-B4F9-17588D0C43A8}"/>
              </a:ext>
            </a:extLst>
          </p:cNvPr>
          <p:cNvSpPr>
            <a:spLocks noGrp="1"/>
          </p:cNvSpPr>
          <p:nvPr/>
        </p:nvSpPr>
        <p:spPr>
          <a:xfrm>
            <a:off x="9963150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204E78A-1E24-449C-BE06-4BCB575FAF58}"/>
              </a:ext>
            </a:extLst>
          </p:cNvPr>
          <p:cNvSpPr>
            <a:spLocks noGrp="1"/>
          </p:cNvSpPr>
          <p:nvPr/>
        </p:nvSpPr>
        <p:spPr>
          <a:xfrm>
            <a:off x="10225088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95CC859-92EC-44AE-9E05-9EC020C2F58E}"/>
              </a:ext>
            </a:extLst>
          </p:cNvPr>
          <p:cNvSpPr>
            <a:spLocks noGrp="1"/>
          </p:cNvSpPr>
          <p:nvPr/>
        </p:nvSpPr>
        <p:spPr>
          <a:xfrm>
            <a:off x="10487025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9DD5CB5-3B6F-43A5-98D9-18B5B581FEE8}"/>
              </a:ext>
            </a:extLst>
          </p:cNvPr>
          <p:cNvSpPr>
            <a:spLocks noGrp="1"/>
          </p:cNvSpPr>
          <p:nvPr/>
        </p:nvSpPr>
        <p:spPr>
          <a:xfrm>
            <a:off x="10748963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856DEA-25A2-4617-A668-AB05674CB748}"/>
              </a:ext>
            </a:extLst>
          </p:cNvPr>
          <p:cNvSpPr>
            <a:spLocks noGrp="1"/>
          </p:cNvSpPr>
          <p:nvPr/>
        </p:nvSpPr>
        <p:spPr>
          <a:xfrm>
            <a:off x="11010900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C1AF11A-6309-4564-87C7-D9431E54DA7B}"/>
              </a:ext>
            </a:extLst>
          </p:cNvPr>
          <p:cNvSpPr>
            <a:spLocks noGrp="1"/>
          </p:cNvSpPr>
          <p:nvPr/>
        </p:nvSpPr>
        <p:spPr>
          <a:xfrm>
            <a:off x="11272838" y="5534025"/>
            <a:ext cx="76200" cy="76200"/>
          </a:xfrm>
          <a:prstGeom prst="ellipse">
            <a:avLst/>
          </a:prstGeom>
          <a:solidFill>
            <a:srgbClr val="1769D2"/>
          </a:solidFill>
          <a:ln w="9525">
            <a:solidFill>
              <a:srgbClr val="1769D2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8334631-57C3-4137-A1CC-7CC436F5B806}"/>
              </a:ext>
            </a:extLst>
          </p:cNvPr>
          <p:cNvSpPr>
            <a:spLocks noGrp="1"/>
          </p:cNvSpPr>
          <p:nvPr/>
        </p:nvSpPr>
        <p:spPr>
          <a:xfrm>
            <a:off x="11506200" y="5505450"/>
            <a:ext cx="133350" cy="133350"/>
          </a:xfrm>
          <a:prstGeom prst="ellipse">
            <a:avLst/>
          </a:prstGeom>
          <a:solidFill>
            <a:srgbClr val="F04E35"/>
          </a:solidFill>
          <a:ln w="9525">
            <a:solidFill>
              <a:srgbClr val="F04E35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4F3E98-6F5E-47CB-966E-99127E84E18D}"/>
              </a:ext>
            </a:extLst>
          </p:cNvPr>
          <p:cNvSpPr>
            <a:spLocks noGrp="1"/>
          </p:cNvSpPr>
          <p:nvPr/>
        </p:nvSpPr>
        <p:spPr>
          <a:xfrm>
            <a:off x="9477375" y="58293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E9B7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1E9B72"/>
                </a:solidFill>
                <a:latin typeface="DejaVu Sans Mono"/>
                <a:ea typeface="DejaVu Sans Mono"/>
                <a:cs typeface="DejaVu Sans Mono"/>
              </a:rPr>
              <a:t>son nokta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ACDFE5D-F532-4E56-B4CC-0A11F5B2B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3" y="1351111"/>
            <a:ext cx="6278941" cy="482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535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1966FC01-3AE8-4409-99C8-DA459EA7D1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E14B64-7C8D-455B-989D-8AB5D0791216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İTERASYON YAKINSAMASI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DEADC0-B4B0-4A31-9901-118CB2656838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Dekad Bazında Yakınsama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7BE4CE-F20C-4272-B33D-45B7F7C36D3C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35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39F8080-B801-4027-8122-83293A8A4E3C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687FB4-8F0E-4756-A337-45944945930B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4884ED-097A-4D5B-8FD0-F00DA6F36D64}"/>
              </a:ext>
            </a:extLst>
          </p:cNvPr>
          <p:cNvSpPr>
            <a:spLocks noGrp="1"/>
          </p:cNvSpPr>
          <p:nvPr/>
        </p:nvSpPr>
        <p:spPr>
          <a:xfrm>
            <a:off x="742950" y="1381125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20.000 iterasyon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5A3BDD-9BFC-4AE9-97A3-A767A82AABAD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1765300" cy="2333625"/>
          </a:xfrm>
          <a:prstGeom prst="rect">
            <a:avLst/>
          </a:prstGeom>
          <a:solidFill>
            <a:srgbClr val="BDE8D5"/>
          </a:solidFill>
          <a:ln w="19050">
            <a:solidFill>
              <a:srgbClr val="F5F0E6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28ECA6-BCC6-4439-B215-F1CB69E58AF5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1574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1–10 Hz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4BA79C-632B-42D2-9E59-0856710A8782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574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225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225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0,381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1B65E8-BD8D-4116-9720-4B81E393A97A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157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dB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38FF48-55DE-4376-8780-97D0AAB92E5E}"/>
              </a:ext>
            </a:extLst>
          </p:cNvPr>
          <p:cNvSpPr>
            <a:spLocks noGrp="1"/>
          </p:cNvSpPr>
          <p:nvPr/>
        </p:nvSpPr>
        <p:spPr>
          <a:xfrm>
            <a:off x="2489200" y="2238375"/>
            <a:ext cx="1765300" cy="2333625"/>
          </a:xfrm>
          <a:prstGeom prst="rect">
            <a:avLst/>
          </a:prstGeom>
          <a:solidFill>
            <a:srgbClr val="D7F5D0"/>
          </a:solidFill>
          <a:ln w="19050">
            <a:solidFill>
              <a:srgbClr val="F5F0E6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5ED414-0236-4E4A-8CA5-EC38659EDF8F}"/>
              </a:ext>
            </a:extLst>
          </p:cNvPr>
          <p:cNvSpPr>
            <a:spLocks noGrp="1"/>
          </p:cNvSpPr>
          <p:nvPr/>
        </p:nvSpPr>
        <p:spPr>
          <a:xfrm>
            <a:off x="2584450" y="2476500"/>
            <a:ext cx="1574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10–100 Hz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170F46-AF8E-4684-B84C-5F45872AF72B}"/>
              </a:ext>
            </a:extLst>
          </p:cNvPr>
          <p:cNvSpPr>
            <a:spLocks noGrp="1"/>
          </p:cNvSpPr>
          <p:nvPr/>
        </p:nvSpPr>
        <p:spPr>
          <a:xfrm>
            <a:off x="2584450" y="3190875"/>
            <a:ext cx="1574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225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225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0,172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FE86F7-339B-491B-9F9E-AFD2CFF76B6B}"/>
              </a:ext>
            </a:extLst>
          </p:cNvPr>
          <p:cNvSpPr>
            <a:spLocks noGrp="1"/>
          </p:cNvSpPr>
          <p:nvPr/>
        </p:nvSpPr>
        <p:spPr>
          <a:xfrm>
            <a:off x="2584450" y="3905250"/>
            <a:ext cx="157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dB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F1FBF4-58C8-48EE-B0EF-CC00B87C9438}"/>
              </a:ext>
            </a:extLst>
          </p:cNvPr>
          <p:cNvSpPr>
            <a:spLocks noGrp="1"/>
          </p:cNvSpPr>
          <p:nvPr/>
        </p:nvSpPr>
        <p:spPr>
          <a:xfrm>
            <a:off x="4292600" y="2238375"/>
            <a:ext cx="1765300" cy="2333625"/>
          </a:xfrm>
          <a:prstGeom prst="rect">
            <a:avLst/>
          </a:prstGeom>
          <a:solidFill>
            <a:srgbClr val="DFF7D8"/>
          </a:solidFill>
          <a:ln w="19050">
            <a:solidFill>
              <a:srgbClr val="F5F0E6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F80DDF-E62A-44BB-A2AB-B332B5E7C720}"/>
              </a:ext>
            </a:extLst>
          </p:cNvPr>
          <p:cNvSpPr>
            <a:spLocks noGrp="1"/>
          </p:cNvSpPr>
          <p:nvPr/>
        </p:nvSpPr>
        <p:spPr>
          <a:xfrm>
            <a:off x="4387850" y="2476500"/>
            <a:ext cx="1574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0,1–1 kHz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954BA4-BA48-4B21-881B-CA2CDA049CB1}"/>
              </a:ext>
            </a:extLst>
          </p:cNvPr>
          <p:cNvSpPr>
            <a:spLocks noGrp="1"/>
          </p:cNvSpPr>
          <p:nvPr/>
        </p:nvSpPr>
        <p:spPr>
          <a:xfrm>
            <a:off x="4387850" y="3190875"/>
            <a:ext cx="1574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225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225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0,157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856072-4ADF-49B1-8322-CC9281E2ACA9}"/>
              </a:ext>
            </a:extLst>
          </p:cNvPr>
          <p:cNvSpPr>
            <a:spLocks noGrp="1"/>
          </p:cNvSpPr>
          <p:nvPr/>
        </p:nvSpPr>
        <p:spPr>
          <a:xfrm>
            <a:off x="4387850" y="3905250"/>
            <a:ext cx="157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dB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55B485-8A70-40B0-B048-105C23475BAF}"/>
              </a:ext>
            </a:extLst>
          </p:cNvPr>
          <p:cNvSpPr>
            <a:spLocks noGrp="1"/>
          </p:cNvSpPr>
          <p:nvPr/>
        </p:nvSpPr>
        <p:spPr>
          <a:xfrm>
            <a:off x="6096000" y="2238375"/>
            <a:ext cx="1765300" cy="2333625"/>
          </a:xfrm>
          <a:prstGeom prst="rect">
            <a:avLst/>
          </a:prstGeom>
          <a:solidFill>
            <a:srgbClr val="C9EFD9"/>
          </a:solidFill>
          <a:ln w="19050">
            <a:solidFill>
              <a:srgbClr val="F5F0E6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4610CC-474A-4312-BDF2-ADBD555A860C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1574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1–10 kHz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60B4B3-1BA2-4D7A-855B-4957A6D258EC}"/>
              </a:ext>
            </a:extLst>
          </p:cNvPr>
          <p:cNvSpPr>
            <a:spLocks noGrp="1"/>
          </p:cNvSpPr>
          <p:nvPr/>
        </p:nvSpPr>
        <p:spPr>
          <a:xfrm>
            <a:off x="6191250" y="3190875"/>
            <a:ext cx="1574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225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225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0,279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36B627-E8BF-4090-877D-2AA6AA992649}"/>
              </a:ext>
            </a:extLst>
          </p:cNvPr>
          <p:cNvSpPr>
            <a:spLocks noGrp="1"/>
          </p:cNvSpPr>
          <p:nvPr/>
        </p:nvSpPr>
        <p:spPr>
          <a:xfrm>
            <a:off x="6191250" y="3905250"/>
            <a:ext cx="157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dB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3C7F1E-1A0E-4CA0-B5F2-4E6DAAFE0D6F}"/>
              </a:ext>
            </a:extLst>
          </p:cNvPr>
          <p:cNvSpPr>
            <a:spLocks noGrp="1"/>
          </p:cNvSpPr>
          <p:nvPr/>
        </p:nvSpPr>
        <p:spPr>
          <a:xfrm>
            <a:off x="7899400" y="2238375"/>
            <a:ext cx="1765300" cy="2333625"/>
          </a:xfrm>
          <a:prstGeom prst="rect">
            <a:avLst/>
          </a:prstGeom>
          <a:solidFill>
            <a:srgbClr val="F6C85F"/>
          </a:solidFill>
          <a:ln w="19050">
            <a:solidFill>
              <a:srgbClr val="F5F0E6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8BB9F6-E739-4608-90AB-9EC496729D3E}"/>
              </a:ext>
            </a:extLst>
          </p:cNvPr>
          <p:cNvSpPr>
            <a:spLocks noGrp="1"/>
          </p:cNvSpPr>
          <p:nvPr/>
        </p:nvSpPr>
        <p:spPr>
          <a:xfrm>
            <a:off x="7994650" y="2476500"/>
            <a:ext cx="1574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10–100 kHz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70F397-4CF0-47EF-B175-4D0CF902A603}"/>
              </a:ext>
            </a:extLst>
          </p:cNvPr>
          <p:cNvSpPr>
            <a:spLocks noGrp="1"/>
          </p:cNvSpPr>
          <p:nvPr/>
        </p:nvSpPr>
        <p:spPr>
          <a:xfrm>
            <a:off x="7994650" y="3190875"/>
            <a:ext cx="1574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225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225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2,277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FBADAB-CF8E-4DC2-983B-70A08D508F9B}"/>
              </a:ext>
            </a:extLst>
          </p:cNvPr>
          <p:cNvSpPr>
            <a:spLocks noGrp="1"/>
          </p:cNvSpPr>
          <p:nvPr/>
        </p:nvSpPr>
        <p:spPr>
          <a:xfrm>
            <a:off x="7994650" y="3905250"/>
            <a:ext cx="157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dB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FA211C-2FD2-40F0-867E-8BCBE3D4C480}"/>
              </a:ext>
            </a:extLst>
          </p:cNvPr>
          <p:cNvSpPr>
            <a:spLocks noGrp="1"/>
          </p:cNvSpPr>
          <p:nvPr/>
        </p:nvSpPr>
        <p:spPr>
          <a:xfrm>
            <a:off x="9702800" y="2238375"/>
            <a:ext cx="1765300" cy="2333625"/>
          </a:xfrm>
          <a:prstGeom prst="rect">
            <a:avLst/>
          </a:prstGeom>
          <a:solidFill>
            <a:srgbClr val="F5A077"/>
          </a:solidFill>
          <a:ln w="19050">
            <a:solidFill>
              <a:srgbClr val="F5F0E6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B94703-4AE7-4FD1-B20F-5C46844ECF24}"/>
              </a:ext>
            </a:extLst>
          </p:cNvPr>
          <p:cNvSpPr>
            <a:spLocks noGrp="1"/>
          </p:cNvSpPr>
          <p:nvPr/>
        </p:nvSpPr>
        <p:spPr>
          <a:xfrm>
            <a:off x="9798050" y="2476500"/>
            <a:ext cx="1574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100–467 kHz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2DD72E-9B15-44AE-859B-08035E5DA6B6}"/>
              </a:ext>
            </a:extLst>
          </p:cNvPr>
          <p:cNvSpPr>
            <a:spLocks noGrp="1"/>
          </p:cNvSpPr>
          <p:nvPr/>
        </p:nvSpPr>
        <p:spPr>
          <a:xfrm>
            <a:off x="9798050" y="3190875"/>
            <a:ext cx="1574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225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225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2,526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9B0DEE-F160-42A4-B346-3EADE6AB8C6D}"/>
              </a:ext>
            </a:extLst>
          </p:cNvPr>
          <p:cNvSpPr>
            <a:spLocks noGrp="1"/>
          </p:cNvSpPr>
          <p:nvPr/>
        </p:nvSpPr>
        <p:spPr>
          <a:xfrm>
            <a:off x="9798050" y="3905250"/>
            <a:ext cx="157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i="0">
                <a:solidFill>
                  <a:srgbClr val="33415C"/>
                </a:solidFill>
                <a:latin typeface="DejaVu Sans Mono"/>
                <a:ea typeface="DejaVu Sans Mono"/>
                <a:cs typeface="DejaVu Sans Mono"/>
              </a:rPr>
              <a:t>dB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F68BA699-8BD1-499A-B2C0-494A68B5003B}"/>
              </a:ext>
            </a:extLst>
          </p:cNvPr>
          <p:cNvSpPr>
            <a:spLocks noGrp="1"/>
          </p:cNvSpPr>
          <p:nvPr/>
        </p:nvSpPr>
        <p:spPr>
          <a:xfrm>
            <a:off x="9159977" y="1952625"/>
            <a:ext cx="0" cy="3000375"/>
          </a:xfrm>
          <a:prstGeom prst="line">
            <a:avLst/>
          </a:prstGeom>
          <a:noFill/>
          <a:ln w="38100">
            <a:solidFill>
              <a:srgbClr val="F04E35"/>
            </a:solidFill>
            <a:prstDash val="dash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87E1FE-F11F-4327-BA9A-5200F272E997}"/>
              </a:ext>
            </a:extLst>
          </p:cNvPr>
          <p:cNvSpPr>
            <a:spLocks noGrp="1"/>
          </p:cNvSpPr>
          <p:nvPr/>
        </p:nvSpPr>
        <p:spPr>
          <a:xfrm>
            <a:off x="8350352" y="17145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25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F04E35"/>
                </a:solidFill>
                <a:latin typeface="DejaVu Sans Mono"/>
                <a:ea typeface="DejaVu Sans Mono"/>
                <a:cs typeface="DejaVu Sans Mono"/>
              </a:rPr>
              <a:t>LPF 50 kHz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1DE988-FDC0-4AFB-8439-2DD2E9E65850}"/>
              </a:ext>
            </a:extLst>
          </p:cNvPr>
          <p:cNvSpPr>
            <a:spLocks noGrp="1"/>
          </p:cNvSpPr>
          <p:nvPr/>
        </p:nvSpPr>
        <p:spPr>
          <a:xfrm>
            <a:off x="1047750" y="5191125"/>
            <a:ext cx="4619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1E9B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1E9B72"/>
                </a:solidFill>
                <a:latin typeface="DejaVu Sans"/>
                <a:ea typeface="DejaVu Sans"/>
                <a:cs typeface="DejaVu Sans"/>
              </a:rPr>
              <a:t>10 kHz altında: 0,16–0,38 dB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D6973DC-ABCF-4293-9C9F-68846134496F}"/>
              </a:ext>
            </a:extLst>
          </p:cNvPr>
          <p:cNvSpPr>
            <a:spLocks noGrp="1"/>
          </p:cNvSpPr>
          <p:nvPr/>
        </p:nvSpPr>
        <p:spPr>
          <a:xfrm>
            <a:off x="6191250" y="5191125"/>
            <a:ext cx="495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800" b="1" i="0">
                <a:solidFill>
                  <a:srgbClr val="F04E3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i="0">
                <a:solidFill>
                  <a:srgbClr val="F04E35"/>
                </a:solidFill>
                <a:latin typeface="DejaVu Sans"/>
                <a:ea typeface="DejaVu Sans"/>
                <a:cs typeface="DejaVu Sans"/>
              </a:rPr>
              <a:t>Yüksek offsette LPF / filtresiz DUT farkı kalır</a:t>
            </a:r>
          </a:p>
        </p:txBody>
      </p:sp>
    </p:spTree>
    <p:extLst>
      <p:ext uri="{BB962C8B-B14F-4D97-AF65-F5344CB8AC3E}">
        <p14:creationId xmlns:p14="http://schemas.microsoft.com/office/powerpoint/2010/main" val="17912087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2F4EA75-233E-448A-9FEF-E8B744D0A3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0E39CB-A2D9-407C-A933-066E220E27D6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İTERASYON YAKINSAMASI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805C48-80FD-471E-B195-5277BCE871A5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İterasyon Sayısı ve Tam Bant MAE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70EE2A-74B9-46BD-9BE3-6D82C39E6531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34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0C0B7F9-6F45-483D-B49F-0FBE3E0B189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CDED4C-32FC-4DC9-B317-6189DD869BA0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="809625" y="1428750"/>
          <a:ext cx="8191500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4C7E7B-FAE6-4DD1-B8B2-8809FB6D7C4B}"/>
              </a:ext>
            </a:extLst>
          </p:cNvPr>
          <p:cNvSpPr>
            <a:spLocks noGrp="1"/>
          </p:cNvSpPr>
          <p:nvPr/>
        </p:nvSpPr>
        <p:spPr>
          <a:xfrm>
            <a:off x="9334500" y="1524000"/>
            <a:ext cx="2095500" cy="1428750"/>
          </a:xfrm>
          <a:prstGeom prst="roundRect">
            <a:avLst>
              <a:gd name="adj" fmla="val 9333"/>
            </a:avLst>
          </a:prstGeom>
          <a:solidFill>
            <a:srgbClr val="F04E35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50FE9-7A31-4383-82CB-5E7E89110277}"/>
              </a:ext>
            </a:extLst>
          </p:cNvPr>
          <p:cNvSpPr>
            <a:spLocks noGrp="1"/>
          </p:cNvSpPr>
          <p:nvPr/>
        </p:nvSpPr>
        <p:spPr>
          <a:xfrm>
            <a:off x="9477375" y="1762125"/>
            <a:ext cx="180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600" b="1" i="0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600" b="1" i="0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16,699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ED606-2FEA-4B64-BEF8-91F906D963D4}"/>
              </a:ext>
            </a:extLst>
          </p:cNvPr>
          <p:cNvSpPr>
            <a:spLocks noGrp="1"/>
          </p:cNvSpPr>
          <p:nvPr/>
        </p:nvSpPr>
        <p:spPr>
          <a:xfrm>
            <a:off x="9572625" y="24288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dB @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0F5958-74E9-4DF2-901E-F62A1BE93154}"/>
              </a:ext>
            </a:extLst>
          </p:cNvPr>
          <p:cNvSpPr>
            <a:spLocks noGrp="1"/>
          </p:cNvSpPr>
          <p:nvPr/>
        </p:nvSpPr>
        <p:spPr>
          <a:xfrm>
            <a:off x="10001250" y="3143250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60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600" b="1" i="0">
                <a:solidFill>
                  <a:srgbClr val="F04E35"/>
                </a:solidFill>
                <a:latin typeface="DejaVu Sans Condensed"/>
                <a:ea typeface="DejaVu Sans Condensed"/>
                <a:cs typeface="DejaVu Sans Condensed"/>
              </a:rPr>
              <a:t>↓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88FE33A-E3FE-4CCF-A83A-E7593F2B646C}"/>
              </a:ext>
            </a:extLst>
          </p:cNvPr>
          <p:cNvSpPr>
            <a:spLocks noGrp="1"/>
          </p:cNvSpPr>
          <p:nvPr/>
        </p:nvSpPr>
        <p:spPr>
          <a:xfrm>
            <a:off x="9334500" y="4000500"/>
            <a:ext cx="2095500" cy="1428750"/>
          </a:xfrm>
          <a:prstGeom prst="roundRect">
            <a:avLst>
              <a:gd name="adj" fmla="val 9333"/>
            </a:avLst>
          </a:prstGeom>
          <a:solidFill>
            <a:srgbClr val="D8F15A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F4ED05-636D-44BB-8EFD-0A958326953E}"/>
              </a:ext>
            </a:extLst>
          </p:cNvPr>
          <p:cNvSpPr>
            <a:spLocks noGrp="1"/>
          </p:cNvSpPr>
          <p:nvPr/>
        </p:nvSpPr>
        <p:spPr>
          <a:xfrm>
            <a:off x="9477375" y="4238625"/>
            <a:ext cx="180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60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60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0,845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C870A4-EB54-40BA-9B03-A0DC596BCF95}"/>
              </a:ext>
            </a:extLst>
          </p:cNvPr>
          <p:cNvSpPr>
            <a:spLocks noGrp="1"/>
          </p:cNvSpPr>
          <p:nvPr/>
        </p:nvSpPr>
        <p:spPr>
          <a:xfrm>
            <a:off x="9477375" y="490537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dB @ 20.000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FD51BF-ED38-4F61-8F89-728CA1A94783}"/>
              </a:ext>
            </a:extLst>
          </p:cNvPr>
          <p:cNvSpPr>
            <a:spLocks noGrp="1"/>
          </p:cNvSpPr>
          <p:nvPr/>
        </p:nvSpPr>
        <p:spPr>
          <a:xfrm>
            <a:off x="1619250" y="5905500"/>
            <a:ext cx="790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425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33415C"/>
                </a:solidFill>
                <a:latin typeface="DejaVu Sans"/>
                <a:ea typeface="DejaVu Sans"/>
                <a:cs typeface="DejaVu Sans"/>
              </a:rPr>
              <a:t>Ara noktalar Monte Carlo değişkenliği nedeniyle monoton değildir; genel yakınsama açıktır.</a:t>
            </a:r>
          </a:p>
        </p:txBody>
      </p:sp>
    </p:spTree>
    <p:extLst>
      <p:ext uri="{BB962C8B-B14F-4D97-AF65-F5344CB8AC3E}">
        <p14:creationId xmlns:p14="http://schemas.microsoft.com/office/powerpoint/2010/main" val="4804569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392E70-297D-40C5-A385-E2BA259EE3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9D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8A5A15-5A22-490F-9679-DFDE3FD886F1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1769D2"/>
                </a:solidFill>
                <a:latin typeface="DejaVu Sans Mono"/>
                <a:ea typeface="DejaVu Sans Mono"/>
                <a:cs typeface="DejaVu Sans Mono"/>
              </a:rPr>
              <a:t>SONUÇ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1F977C-AD4F-40DE-899A-4C645037602F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>
                <a:solidFill>
                  <a:srgbClr val="14213D"/>
                </a:solidFill>
                <a:latin typeface="DejaVu Sans Condensed"/>
                <a:ea typeface="DejaVu Sans Condensed"/>
                <a:cs typeface="DejaVu Sans Condensed"/>
              </a:rPr>
              <a:t>Tek Kanal ile Cross-PSD Karşılaştırması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28E0F1-474B-43D5-9E3B-0F1E144B0EC2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36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F0999A0D-3946-4D6B-89B3-4B655F91067E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090299-7DCA-431E-B839-A1EBC364DCDF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6B728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88CD45-97CB-46D5-9841-89EC02791978}"/>
              </a:ext>
            </a:extLst>
          </p:cNvPr>
          <p:cNvSpPr>
            <a:spLocks noGrp="1"/>
          </p:cNvSpPr>
          <p:nvPr/>
        </p:nvSpPr>
        <p:spPr>
          <a:xfrm>
            <a:off x="571500" y="1381125"/>
            <a:ext cx="110490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FC7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tr-TR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3"/>
          <a:srcRect l="7737" t="4598" r="6118" b="3449"/>
          <a:stretch/>
        </p:blipFill>
        <p:spPr>
          <a:xfrm>
            <a:off x="2790825" y="1485900"/>
            <a:ext cx="6315313" cy="431816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00480DF-520F-43AA-A23E-93DB41F1E3CA}"/>
              </a:ext>
            </a:extLst>
          </p:cNvPr>
          <p:cNvSpPr>
            <a:spLocks noGrp="1"/>
          </p:cNvSpPr>
          <p:nvPr/>
        </p:nvSpPr>
        <p:spPr>
          <a:xfrm>
            <a:off x="1333500" y="5972175"/>
            <a:ext cx="9525000" cy="400050"/>
          </a:xfrm>
          <a:prstGeom prst="rect">
            <a:avLst/>
          </a:prstGeom>
          <a:solidFill>
            <a:srgbClr val="D8F15A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52EE5A-EE45-4E8B-B101-07DB2CC4F0DC}"/>
              </a:ext>
            </a:extLst>
          </p:cNvPr>
          <p:cNvSpPr>
            <a:spLocks noGrp="1"/>
          </p:cNvSpPr>
          <p:nvPr/>
        </p:nvSpPr>
        <p:spPr>
          <a:xfrm>
            <a:off x="1524000" y="6067425"/>
            <a:ext cx="914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 i="0">
                <a:solidFill>
                  <a:srgbClr val="14213D"/>
                </a:solidFill>
                <a:latin typeface="DejaVu Sans Mono"/>
                <a:ea typeface="DejaVu Sans Mono"/>
                <a:cs typeface="DejaVu Sans Mono"/>
              </a:rPr>
              <a:t>Ref RMS 0,10 rad: tek kanal 6,94 dB MAE  •  Cross-PSD 0,89 dB MAE</a:t>
            </a:r>
          </a:p>
        </p:txBody>
      </p:sp>
    </p:spTree>
    <p:extLst>
      <p:ext uri="{BB962C8B-B14F-4D97-AF65-F5344CB8AC3E}">
        <p14:creationId xmlns:p14="http://schemas.microsoft.com/office/powerpoint/2010/main" val="17177080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3B475E9-C5E8-49EF-B402-94E36D7A1A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04E35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DFAA9F-E4FC-4CC3-836E-0427EE91C289}"/>
              </a:ext>
            </a:extLst>
          </p:cNvPr>
          <p:cNvSpPr>
            <a:spLocks noGrp="1"/>
          </p:cNvSpPr>
          <p:nvPr/>
        </p:nvSpPr>
        <p:spPr>
          <a:xfrm>
            <a:off x="647700" y="6000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 i="0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450" b="1" i="0" dirty="0" err="1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Sonuç</a:t>
            </a:r>
            <a:endParaRPr sz="3450" b="1" i="0" dirty="0">
              <a:solidFill>
                <a:srgbClr val="F5F0E6"/>
              </a:solidFill>
              <a:latin typeface="DejaVu Sans Condensed"/>
              <a:ea typeface="DejaVu Sans Condensed"/>
              <a:cs typeface="DejaVu Sans Condense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E3597A-8B95-435A-8FB9-C0ECDCDC5E31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75" b="1" i="0">
                <a:solidFill>
                  <a:srgbClr val="8BB9F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8BB9F0"/>
                </a:solidFill>
                <a:latin typeface="DejaVu Sans Mono"/>
                <a:ea typeface="DejaVu Sans Mono"/>
                <a:cs typeface="DejaVu Sans Mono"/>
              </a:rPr>
              <a:t>37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568AB52-2D75-464C-A8A8-12573C1F36C6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11020425" cy="0"/>
          </a:xfrm>
          <a:prstGeom prst="line">
            <a:avLst/>
          </a:prstGeom>
          <a:noFill/>
          <a:ln w="9525">
            <a:solidFill>
              <a:srgbClr val="41506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61633B-662D-4361-A16F-D7EFEEA4D0C7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8BB9F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0" i="0">
                <a:solidFill>
                  <a:srgbClr val="8BB9F0"/>
                </a:solidFill>
                <a:latin typeface="DejaVu Sans Mono"/>
                <a:ea typeface="DejaVu Sans Mono"/>
                <a:cs typeface="DejaVu Sans Mono"/>
              </a:rPr>
              <a:t>İki kanallı Cross-PSD faz gürültüsü ölçümü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BCA3B7-D1EC-429F-B6A8-97C5F298502D}"/>
              </a:ext>
            </a:extLst>
          </p:cNvPr>
          <p:cNvSpPr>
            <a:spLocks noGrp="1"/>
          </p:cNvSpPr>
          <p:nvPr/>
        </p:nvSpPr>
        <p:spPr>
          <a:xfrm>
            <a:off x="685799" y="1476375"/>
            <a:ext cx="105060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150" b="1" i="0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defRPr>
            </a:pPr>
            <a:r>
              <a:rPr sz="3150" b="1" i="0" dirty="0" err="1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İki</a:t>
            </a:r>
            <a:r>
              <a:rPr sz="3150" b="1" i="0" dirty="0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3150" b="1" i="0" dirty="0" err="1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bağımsız</a:t>
            </a:r>
            <a:r>
              <a:rPr sz="3150" b="1" i="0" dirty="0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3150" b="1" i="0" dirty="0" err="1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referans</a:t>
            </a:r>
            <a:r>
              <a:rPr sz="3150" b="1" i="0" dirty="0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3150" b="1" i="0" dirty="0" err="1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kanalı</a:t>
            </a:r>
            <a:r>
              <a:rPr sz="3150" b="1" i="0" dirty="0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, </a:t>
            </a:r>
            <a:r>
              <a:rPr sz="3150" b="1" i="0" dirty="0" err="1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ortak</a:t>
            </a:r>
            <a:r>
              <a:rPr sz="3150" b="1" i="0" dirty="0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 DUT </a:t>
            </a:r>
            <a:r>
              <a:rPr sz="3150" b="1" i="0" dirty="0" err="1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faz</a:t>
            </a:r>
            <a:r>
              <a:rPr sz="3150" b="1" i="0" dirty="0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3150" b="1" i="0" dirty="0" err="1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gürültüsünü</a:t>
            </a:r>
            <a:r>
              <a:rPr sz="3150" b="1" i="0" dirty="0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3150" b="1" i="0" dirty="0" err="1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referans</a:t>
            </a:r>
            <a:r>
              <a:rPr sz="3150" b="1" i="0" dirty="0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3150" b="1" i="0" dirty="0" err="1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tabanının</a:t>
            </a:r>
            <a:r>
              <a:rPr sz="3150" b="1" i="0" dirty="0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3150" b="1" i="0" dirty="0" err="1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altından</a:t>
            </a:r>
            <a:r>
              <a:rPr sz="3150" b="1" i="0" dirty="0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 </a:t>
            </a:r>
            <a:r>
              <a:rPr sz="3150" b="1" i="0" dirty="0" err="1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çıkarabilir</a:t>
            </a:r>
            <a:r>
              <a:rPr sz="3150" b="1" i="0" dirty="0">
                <a:solidFill>
                  <a:srgbClr val="F5F0E6"/>
                </a:solidFill>
                <a:latin typeface="DejaVu Sans Condensed"/>
                <a:ea typeface="DejaVu Sans Condensed"/>
                <a:cs typeface="DejaVu Sans Condensed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4363A3-40D6-4CC9-8AA3-64F4E2ADF545}"/>
              </a:ext>
            </a:extLst>
          </p:cNvPr>
          <p:cNvSpPr>
            <a:spLocks noGrp="1"/>
          </p:cNvSpPr>
          <p:nvPr/>
        </p:nvSpPr>
        <p:spPr>
          <a:xfrm>
            <a:off x="685800" y="3224214"/>
            <a:ext cx="7239000" cy="38100"/>
          </a:xfrm>
          <a:prstGeom prst="rect">
            <a:avLst/>
          </a:prstGeom>
          <a:solidFill>
            <a:srgbClr val="F04E35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FBF969-26BF-4B76-8F13-1A7EE97695D6}"/>
              </a:ext>
            </a:extLst>
          </p:cNvPr>
          <p:cNvSpPr>
            <a:spLocks noGrp="1"/>
          </p:cNvSpPr>
          <p:nvPr/>
        </p:nvSpPr>
        <p:spPr>
          <a:xfrm>
            <a:off x="647700" y="3567112"/>
            <a:ext cx="11020424" cy="26908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650" b="0" i="0">
                <a:solidFill>
                  <a:srgbClr val="F5F0E6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650" b="0" i="0" dirty="0">
                <a:solidFill>
                  <a:srgbClr val="F5F0E6"/>
                </a:solidFill>
                <a:latin typeface="DejaVu Sans"/>
                <a:ea typeface="DejaVu Sans"/>
                <a:cs typeface="DejaVu Sans"/>
              </a:rPr>
              <a:t>Faz gürültüsü sinyalin fazındaki rastgele sapmalardır.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650" b="0" i="0">
                <a:solidFill>
                  <a:srgbClr val="F5F0E6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650" dirty="0">
                <a:solidFill>
                  <a:srgbClr val="F5F0E6"/>
                </a:solidFill>
                <a:latin typeface="DejaVu Sans"/>
                <a:ea typeface="DejaVu Sans"/>
                <a:cs typeface="DejaVu Sans"/>
              </a:rPr>
              <a:t>Bu sapmalar </a:t>
            </a:r>
            <a:r>
              <a:rPr lang="tr-TR" sz="1650" dirty="0" err="1">
                <a:solidFill>
                  <a:srgbClr val="F5F0E6"/>
                </a:solidFill>
                <a:latin typeface="DejaVu Sans"/>
                <a:ea typeface="DejaVu Sans"/>
                <a:cs typeface="DejaVu Sans"/>
              </a:rPr>
              <a:t>sepktrumun</a:t>
            </a:r>
            <a:r>
              <a:rPr lang="tr-TR" sz="1650" dirty="0">
                <a:solidFill>
                  <a:srgbClr val="F5F0E6"/>
                </a:solidFill>
                <a:latin typeface="DejaVu Sans"/>
                <a:ea typeface="DejaVu Sans"/>
                <a:cs typeface="DejaVu Sans"/>
              </a:rPr>
              <a:t> yayılması, BER ve EVM artışı, </a:t>
            </a:r>
            <a:r>
              <a:rPr lang="tr-TR" sz="1650" dirty="0" err="1">
                <a:solidFill>
                  <a:srgbClr val="F5F0E6"/>
                </a:solidFill>
                <a:latin typeface="DejaVu Sans"/>
                <a:ea typeface="DejaVu Sans"/>
                <a:cs typeface="DejaVu Sans"/>
              </a:rPr>
              <a:t>jitter</a:t>
            </a:r>
            <a:r>
              <a:rPr lang="tr-TR" sz="1650" dirty="0">
                <a:solidFill>
                  <a:srgbClr val="F5F0E6"/>
                </a:solidFill>
                <a:latin typeface="DejaVu Sans"/>
                <a:ea typeface="DejaVu Sans"/>
                <a:cs typeface="DejaVu Sans"/>
              </a:rPr>
              <a:t> hatası gibi sorunlara neden olur.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650" b="0" i="0">
                <a:solidFill>
                  <a:srgbClr val="F5F0E6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650" dirty="0">
                <a:solidFill>
                  <a:srgbClr val="F5F0E6"/>
                </a:solidFill>
                <a:latin typeface="DejaVu Sans"/>
                <a:ea typeface="DejaVu Sans"/>
                <a:cs typeface="DejaVu Sans"/>
              </a:rPr>
              <a:t>Faz gürültüsünü ölçmenin farklı yöntemleri vardır, bu projede Cross-PSD metodu kullanıldı.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650" b="0" i="0">
                <a:solidFill>
                  <a:srgbClr val="F5F0E6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650" dirty="0">
                <a:solidFill>
                  <a:srgbClr val="F5F0E6"/>
                </a:solidFill>
                <a:latin typeface="DejaVu Sans"/>
                <a:ea typeface="DejaVu Sans"/>
                <a:cs typeface="DejaVu Sans"/>
              </a:rPr>
              <a:t>Bu metodun matematiksel açıklaması ve </a:t>
            </a:r>
            <a:r>
              <a:rPr lang="tr-TR" sz="1650" dirty="0" err="1">
                <a:solidFill>
                  <a:srgbClr val="F5F0E6"/>
                </a:solidFill>
                <a:latin typeface="DejaVu Sans"/>
                <a:ea typeface="DejaVu Sans"/>
                <a:cs typeface="DejaVu Sans"/>
              </a:rPr>
              <a:t>Octave</a:t>
            </a:r>
            <a:r>
              <a:rPr lang="tr-TR" sz="1650" dirty="0">
                <a:solidFill>
                  <a:srgbClr val="F5F0E6"/>
                </a:solidFill>
                <a:latin typeface="DejaVu Sans"/>
                <a:ea typeface="DejaVu Sans"/>
                <a:cs typeface="DejaVu Sans"/>
              </a:rPr>
              <a:t> ortamında nasıl modellendiği anlatıldı.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650" b="0" i="0">
                <a:solidFill>
                  <a:srgbClr val="F5F0E6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650" dirty="0">
                <a:solidFill>
                  <a:srgbClr val="F5F0E6"/>
                </a:solidFill>
                <a:latin typeface="DejaVu Sans"/>
                <a:ea typeface="DejaVu Sans"/>
                <a:cs typeface="DejaVu Sans"/>
              </a:rPr>
              <a:t>Farklı parametrelerin etkileri deneysel olarak ölçüldü ve görselleştirildi.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650" b="0" i="0">
                <a:solidFill>
                  <a:srgbClr val="F5F0E6"/>
                </a:solidFill>
                <a:latin typeface="DejaVu Sans"/>
                <a:ea typeface="DejaVu Sans"/>
                <a:cs typeface="DejaVu Sans"/>
              </a:defRPr>
            </a:pPr>
            <a:r>
              <a:rPr lang="tr-TR" sz="1650" dirty="0">
                <a:solidFill>
                  <a:srgbClr val="F5F0E6"/>
                </a:solidFill>
                <a:latin typeface="DejaVu Sans"/>
                <a:ea typeface="DejaVu Sans"/>
                <a:cs typeface="DejaVu Sans"/>
              </a:rPr>
              <a:t>Kullandığımız metodun diğer yöntemlere göre en büyük avantajı olan referans gürültüsüne rağmen yeterli tekrarla doğru ölçüm yapılabildiği görüldü.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650" b="0" i="0">
                <a:solidFill>
                  <a:srgbClr val="F5F0E6"/>
                </a:solidFill>
                <a:latin typeface="DejaVu Sans"/>
                <a:ea typeface="DejaVu Sans"/>
                <a:cs typeface="DejaVu Sans"/>
              </a:defRPr>
            </a:pPr>
            <a:endParaRPr lang="tr-TR" sz="1650" dirty="0">
              <a:solidFill>
                <a:srgbClr val="F5F0E6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7543804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1677</Words>
  <Application>Microsoft Office PowerPoint</Application>
  <DocSecurity>0</DocSecurity>
  <PresentationFormat>Widescreen</PresentationFormat>
  <Paragraphs>446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Arial</vt:lpstr>
      <vt:lpstr>Calibri</vt:lpstr>
      <vt:lpstr>Calibri Light</vt:lpstr>
      <vt:lpstr>Cambria Math</vt:lpstr>
      <vt:lpstr>DejaVu Sans</vt:lpstr>
      <vt:lpstr>DejaVu Sans Condensed</vt:lpstr>
      <vt:lpstr>DejaVu Sans Mono</vt:lpstr>
      <vt:lpstr>DejaVu Serif</vt:lpstr>
      <vt:lpstr>trebuchet ms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keywords>Gizlilik Derecesini Seçiniz</cp:keywords>
  <cp:lastModifiedBy>Ömer Faruk YAZICI</cp:lastModifiedBy>
  <cp:revision>38</cp:revision>
  <dcterms:created xsi:type="dcterms:W3CDTF">2026-08-27T06:19:14Z</dcterms:created>
  <dcterms:modified xsi:type="dcterms:W3CDTF">2026-08-31T11:47:12Z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3527790d-f6a4-4d89-a897-f8411cc32070</vt:lpwstr>
  </property>
  <property fmtid="{D5CDD505-2E9C-101B-9397-08002B2CF9AE}" pid="3" name="LANGUAGE">
    <vt:lpwstr>TR</vt:lpwstr>
  </property>
  <property fmtid="{D5CDD505-2E9C-101B-9397-08002B2CF9AE}" pid="4" name="CATEGORY">
    <vt:lpwstr>CT1</vt:lpwstr>
  </property>
  <property fmtid="{D5CDD505-2E9C-101B-9397-08002B2CF9AE}" pid="5" name="MILLICLASSIFICATION">
    <vt:lpwstr>AHc2n3B9s</vt:lpwstr>
  </property>
  <property fmtid="{D5CDD505-2E9C-101B-9397-08002B2CF9AE}" pid="6" name="KVKK">
    <vt:lpwstr>A65veE7AK</vt:lpwstr>
  </property>
  <property fmtid="{D5CDD505-2E9C-101B-9397-08002B2CF9AE}" pid="7" name="LABELING">
    <vt:lpwstr/>
  </property>
</Properties>
</file>